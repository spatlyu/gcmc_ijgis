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3"/>
  </p:notesMasterIdLst>
  <p:sldIdLst>
    <p:sldId id="257" r:id="rId2"/>
  </p:sldIdLst>
  <p:sldSz cx="10260013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6969"/>
    <a:srgbClr val="7C7C7C"/>
    <a:srgbClr val="FEC200"/>
    <a:srgbClr val="AAD38F"/>
    <a:srgbClr val="6184B0"/>
    <a:srgbClr val="AD5264"/>
    <a:srgbClr val="5289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51" autoAdjust="0"/>
    <p:restoredTop sz="92743" autoAdjust="0"/>
  </p:normalViewPr>
  <p:slideViewPr>
    <p:cSldViewPr snapToGrid="0">
      <p:cViewPr varScale="1">
        <p:scale>
          <a:sx n="98" d="100"/>
          <a:sy n="98" d="100"/>
        </p:scale>
        <p:origin x="9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9EE49-2A00-419A-8840-1E8ED175E78F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98475" y="1143000"/>
            <a:ext cx="5861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0999B3-F5DB-4A2C-AF40-415416B1E2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020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46315" rtl="0" eaLnBrk="1" latinLnBrk="0" hangingPunct="1">
      <a:defRPr sz="979" kern="1200">
        <a:solidFill>
          <a:schemeClr val="tx1"/>
        </a:solidFill>
        <a:latin typeface="+mn-lt"/>
        <a:ea typeface="+mn-ea"/>
        <a:cs typeface="+mn-cs"/>
      </a:defRPr>
    </a:lvl1pPr>
    <a:lvl2pPr marL="373158" algn="l" defTabSz="746315" rtl="0" eaLnBrk="1" latinLnBrk="0" hangingPunct="1">
      <a:defRPr sz="979" kern="1200">
        <a:solidFill>
          <a:schemeClr val="tx1"/>
        </a:solidFill>
        <a:latin typeface="+mn-lt"/>
        <a:ea typeface="+mn-ea"/>
        <a:cs typeface="+mn-cs"/>
      </a:defRPr>
    </a:lvl2pPr>
    <a:lvl3pPr marL="746315" algn="l" defTabSz="746315" rtl="0" eaLnBrk="1" latinLnBrk="0" hangingPunct="1">
      <a:defRPr sz="979" kern="1200">
        <a:solidFill>
          <a:schemeClr val="tx1"/>
        </a:solidFill>
        <a:latin typeface="+mn-lt"/>
        <a:ea typeface="+mn-ea"/>
        <a:cs typeface="+mn-cs"/>
      </a:defRPr>
    </a:lvl3pPr>
    <a:lvl4pPr marL="1119472" algn="l" defTabSz="746315" rtl="0" eaLnBrk="1" latinLnBrk="0" hangingPunct="1">
      <a:defRPr sz="979" kern="1200">
        <a:solidFill>
          <a:schemeClr val="tx1"/>
        </a:solidFill>
        <a:latin typeface="+mn-lt"/>
        <a:ea typeface="+mn-ea"/>
        <a:cs typeface="+mn-cs"/>
      </a:defRPr>
    </a:lvl4pPr>
    <a:lvl5pPr marL="1492629" algn="l" defTabSz="746315" rtl="0" eaLnBrk="1" latinLnBrk="0" hangingPunct="1">
      <a:defRPr sz="979" kern="1200">
        <a:solidFill>
          <a:schemeClr val="tx1"/>
        </a:solidFill>
        <a:latin typeface="+mn-lt"/>
        <a:ea typeface="+mn-ea"/>
        <a:cs typeface="+mn-cs"/>
      </a:defRPr>
    </a:lvl5pPr>
    <a:lvl6pPr marL="1865787" algn="l" defTabSz="746315" rtl="0" eaLnBrk="1" latinLnBrk="0" hangingPunct="1">
      <a:defRPr sz="979" kern="1200">
        <a:solidFill>
          <a:schemeClr val="tx1"/>
        </a:solidFill>
        <a:latin typeface="+mn-lt"/>
        <a:ea typeface="+mn-ea"/>
        <a:cs typeface="+mn-cs"/>
      </a:defRPr>
    </a:lvl6pPr>
    <a:lvl7pPr marL="2238944" algn="l" defTabSz="746315" rtl="0" eaLnBrk="1" latinLnBrk="0" hangingPunct="1">
      <a:defRPr sz="979" kern="1200">
        <a:solidFill>
          <a:schemeClr val="tx1"/>
        </a:solidFill>
        <a:latin typeface="+mn-lt"/>
        <a:ea typeface="+mn-ea"/>
        <a:cs typeface="+mn-cs"/>
      </a:defRPr>
    </a:lvl7pPr>
    <a:lvl8pPr marL="2612102" algn="l" defTabSz="746315" rtl="0" eaLnBrk="1" latinLnBrk="0" hangingPunct="1">
      <a:defRPr sz="979" kern="1200">
        <a:solidFill>
          <a:schemeClr val="tx1"/>
        </a:solidFill>
        <a:latin typeface="+mn-lt"/>
        <a:ea typeface="+mn-ea"/>
        <a:cs typeface="+mn-cs"/>
      </a:defRPr>
    </a:lvl8pPr>
    <a:lvl9pPr marL="2985259" algn="l" defTabSz="746315" rtl="0" eaLnBrk="1" latinLnBrk="0" hangingPunct="1">
      <a:defRPr sz="97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97F76-5F39-5F69-1EB3-D96A31BF1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3F0D2A-3E57-BAD0-CB3C-D8D429A57F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8475" y="1143000"/>
            <a:ext cx="58610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45E0255-1785-1911-69B0-A2C5019AB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BD7B70-A70F-A355-5EA0-98E84408B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99B3-F5DB-4A2C-AF40-415416B1E21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636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2502" y="883861"/>
            <a:ext cx="7695010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502" y="2836605"/>
            <a:ext cx="7695010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B127A-E7BA-44AD-911E-EBEBA10CF7EB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CDB05-BD5E-49B9-A363-47A3876F10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500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B127A-E7BA-44AD-911E-EBEBA10CF7EB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CDB05-BD5E-49B9-A363-47A3876F10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191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032" y="1346419"/>
            <a:ext cx="8849261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0032" y="3614203"/>
            <a:ext cx="8849261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B127A-E7BA-44AD-911E-EBEBA10CF7EB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CDB05-BD5E-49B9-A363-47A3876F10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691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5376" y="1437680"/>
            <a:ext cx="4360506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94131" y="1437680"/>
            <a:ext cx="4360506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B127A-E7BA-44AD-911E-EBEBA10CF7EB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CDB05-BD5E-49B9-A363-47A3876F10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778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712" y="287536"/>
            <a:ext cx="8849261" cy="104388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713" y="1323916"/>
            <a:ext cx="434046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6713" y="1972747"/>
            <a:ext cx="4340466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94132" y="1323916"/>
            <a:ext cx="4361842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94132" y="1972747"/>
            <a:ext cx="4361842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B127A-E7BA-44AD-911E-EBEBA10CF7EB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CDB05-BD5E-49B9-A363-47A3876F10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1818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B127A-E7BA-44AD-911E-EBEBA10CF7EB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CDB05-BD5E-49B9-A363-47A3876F10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745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B127A-E7BA-44AD-911E-EBEBA10CF7EB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CDB05-BD5E-49B9-A363-47A3876F10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299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713" y="360045"/>
            <a:ext cx="3309121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1842" y="777597"/>
            <a:ext cx="5194132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6713" y="1620202"/>
            <a:ext cx="3309121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B127A-E7BA-44AD-911E-EBEBA10CF7EB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CDB05-BD5E-49B9-A363-47A3876F10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137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713" y="360045"/>
            <a:ext cx="3309121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61842" y="777597"/>
            <a:ext cx="5194132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6713" y="1620202"/>
            <a:ext cx="3309121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B127A-E7BA-44AD-911E-EBEBA10CF7EB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CDB05-BD5E-49B9-A363-47A3876F10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155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B127A-E7BA-44AD-911E-EBEBA10CF7EB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CDB05-BD5E-49B9-A363-47A3876F10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098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42322" y="287536"/>
            <a:ext cx="2212315" cy="457682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5376" y="287536"/>
            <a:ext cx="6508696" cy="457682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B127A-E7BA-44AD-911E-EBEBA10CF7EB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CDB05-BD5E-49B9-A363-47A3876F10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07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5376" y="287536"/>
            <a:ext cx="8849261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5376" y="1437680"/>
            <a:ext cx="8849261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5376" y="5005626"/>
            <a:ext cx="2308503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9B127A-E7BA-44AD-911E-EBEBA10CF7EB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98630" y="5005626"/>
            <a:ext cx="3462754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46134" y="5005626"/>
            <a:ext cx="2308503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ACDB05-BD5E-49B9-A363-47A3876F10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803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822E2-D2B5-B6C6-2E80-6F4499E2F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82FEF83-1D65-5CC0-136B-B058A69E492E}"/>
              </a:ext>
            </a:extLst>
          </p:cNvPr>
          <p:cNvSpPr txBox="1"/>
          <p:nvPr/>
        </p:nvSpPr>
        <p:spPr>
          <a:xfrm>
            <a:off x="89949" y="712071"/>
            <a:ext cx="2246128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altLang="zh-CN" sz="1900" b="1" dirty="0"/>
              <a:t>Scenario i</a:t>
            </a:r>
          </a:p>
          <a:p>
            <a:r>
              <a:rPr lang="zh-CN" altLang="en-US" sz="1900" b="1" i="1" dirty="0">
                <a:latin typeface="+mn-ea"/>
              </a:rPr>
              <a:t>Mediator variables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D82EDB8A-8904-79A2-7306-DCBC6B54A369}"/>
              </a:ext>
            </a:extLst>
          </p:cNvPr>
          <p:cNvGrpSpPr/>
          <p:nvPr/>
        </p:nvGrpSpPr>
        <p:grpSpPr>
          <a:xfrm>
            <a:off x="2982597" y="841945"/>
            <a:ext cx="1992317" cy="417360"/>
            <a:chOff x="8630160" y="2213172"/>
            <a:chExt cx="1855073" cy="388609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0C1968C-E4D0-99D0-A317-40A0D290E0A4}"/>
                </a:ext>
              </a:extLst>
            </p:cNvPr>
            <p:cNvSpPr/>
            <p:nvPr/>
          </p:nvSpPr>
          <p:spPr>
            <a:xfrm>
              <a:off x="8630160" y="2213173"/>
              <a:ext cx="324188" cy="38860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2075" b="1" dirty="0">
                  <a:solidFill>
                    <a:schemeClr val="tx1"/>
                  </a:solidFill>
                </a:rPr>
                <a:t>A</a:t>
              </a:r>
              <a:endParaRPr lang="zh-CN" altLang="en-US" sz="2075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C3B9C47-5EB6-96C0-E4D8-263C07E75950}"/>
                </a:ext>
              </a:extLst>
            </p:cNvPr>
            <p:cNvSpPr/>
            <p:nvPr/>
          </p:nvSpPr>
          <p:spPr>
            <a:xfrm>
              <a:off x="9395229" y="2213172"/>
              <a:ext cx="334637" cy="38860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2075" b="1" dirty="0">
                  <a:solidFill>
                    <a:schemeClr val="tx1"/>
                  </a:solidFill>
                </a:rPr>
                <a:t>	B</a:t>
              </a:r>
              <a:endParaRPr lang="zh-CN" altLang="en-US" sz="2075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CEBD4BC-023B-2E39-AC06-A7D98A578ECF}"/>
                </a:ext>
              </a:extLst>
            </p:cNvPr>
            <p:cNvSpPr/>
            <p:nvPr/>
          </p:nvSpPr>
          <p:spPr>
            <a:xfrm>
              <a:off x="10180448" y="2213173"/>
              <a:ext cx="304785" cy="38860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2075" b="1" dirty="0">
                  <a:solidFill>
                    <a:schemeClr val="tx1"/>
                  </a:solidFill>
                </a:rPr>
                <a:t>C</a:t>
              </a:r>
              <a:endParaRPr lang="zh-CN" altLang="en-US" sz="2075" b="1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21884ED8-75E4-85A6-773D-23C97D9B9AA5}"/>
                </a:ext>
              </a:extLst>
            </p:cNvPr>
            <p:cNvCxnSpPr>
              <a:stCxn id="17" idx="3"/>
              <a:endCxn id="18" idx="1"/>
            </p:cNvCxnSpPr>
            <p:nvPr/>
          </p:nvCxnSpPr>
          <p:spPr>
            <a:xfrm flipV="1">
              <a:off x="8954348" y="2407476"/>
              <a:ext cx="440881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64DB66FF-A61D-9846-C4F9-A0AB7B0CC3BC}"/>
                </a:ext>
              </a:extLst>
            </p:cNvPr>
            <p:cNvCxnSpPr>
              <a:stCxn id="18" idx="3"/>
              <a:endCxn id="19" idx="1"/>
            </p:cNvCxnSpPr>
            <p:nvPr/>
          </p:nvCxnSpPr>
          <p:spPr>
            <a:xfrm>
              <a:off x="9729865" y="2407476"/>
              <a:ext cx="450583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2F241A0D-489C-A1EB-269A-6E801AE379B9}"/>
              </a:ext>
            </a:extLst>
          </p:cNvPr>
          <p:cNvSpPr txBox="1"/>
          <p:nvPr/>
        </p:nvSpPr>
        <p:spPr>
          <a:xfrm>
            <a:off x="89949" y="2859784"/>
            <a:ext cx="2685351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t-IT" altLang="zh-CN" sz="1900" b="1" dirty="0"/>
              <a:t>Scenario iii</a:t>
            </a:r>
          </a:p>
          <a:p>
            <a:r>
              <a:rPr lang="zh-CN" altLang="en-US" sz="1900" b="1" i="1" dirty="0">
                <a:latin typeface="+mn-ea"/>
              </a:rPr>
              <a:t>Confounding variables</a:t>
            </a:r>
            <a:endParaRPr lang="zh-CN" altLang="en-US" sz="1900" i="1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DA2FFB76-4F0C-6FC2-A14A-012BA8B1EABF}"/>
              </a:ext>
            </a:extLst>
          </p:cNvPr>
          <p:cNvGrpSpPr/>
          <p:nvPr/>
        </p:nvGrpSpPr>
        <p:grpSpPr>
          <a:xfrm>
            <a:off x="2982597" y="2989658"/>
            <a:ext cx="1992317" cy="417360"/>
            <a:chOff x="8630160" y="4256221"/>
            <a:chExt cx="1855073" cy="38860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EE6FFB6-A734-AB5E-ED67-63D67DDD4FDE}"/>
                </a:ext>
              </a:extLst>
            </p:cNvPr>
            <p:cNvSpPr/>
            <p:nvPr/>
          </p:nvSpPr>
          <p:spPr>
            <a:xfrm>
              <a:off x="8630160" y="4256222"/>
              <a:ext cx="324188" cy="38860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2075" b="1" dirty="0">
                  <a:solidFill>
                    <a:schemeClr val="tx1"/>
                  </a:solidFill>
                </a:rPr>
                <a:t>A</a:t>
              </a:r>
              <a:endParaRPr lang="zh-CN" altLang="en-US" sz="2075" b="1" dirty="0">
                <a:solidFill>
                  <a:schemeClr val="tx1"/>
                </a:solidFill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D06E7D5-5667-0EC2-EA3C-416969A2344B}"/>
                </a:ext>
              </a:extLst>
            </p:cNvPr>
            <p:cNvSpPr/>
            <p:nvPr/>
          </p:nvSpPr>
          <p:spPr>
            <a:xfrm>
              <a:off x="9395229" y="4256221"/>
              <a:ext cx="334637" cy="38860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2075" b="1" dirty="0">
                  <a:solidFill>
                    <a:schemeClr val="tx1"/>
                  </a:solidFill>
                </a:rPr>
                <a:t>	B</a:t>
              </a:r>
              <a:endParaRPr lang="zh-CN" altLang="en-US" sz="2075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A003F628-3FA3-92ED-C589-82719F0356E8}"/>
                </a:ext>
              </a:extLst>
            </p:cNvPr>
            <p:cNvSpPr/>
            <p:nvPr/>
          </p:nvSpPr>
          <p:spPr>
            <a:xfrm>
              <a:off x="10180448" y="4256222"/>
              <a:ext cx="304785" cy="38860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2075" b="1" dirty="0">
                  <a:solidFill>
                    <a:schemeClr val="tx1"/>
                  </a:solidFill>
                </a:rPr>
                <a:t>C</a:t>
              </a:r>
              <a:endParaRPr lang="zh-CN" altLang="en-US" sz="2075" b="1" dirty="0">
                <a:solidFill>
                  <a:schemeClr val="tx1"/>
                </a:solidFill>
              </a:endParaRPr>
            </a:p>
          </p:txBody>
        </p: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D6B065D8-A976-FFB0-A1A2-177ED41A978E}"/>
                </a:ext>
              </a:extLst>
            </p:cNvPr>
            <p:cNvCxnSpPr>
              <a:stCxn id="24" idx="3"/>
              <a:endCxn id="25" idx="1"/>
            </p:cNvCxnSpPr>
            <p:nvPr/>
          </p:nvCxnSpPr>
          <p:spPr>
            <a:xfrm flipV="1">
              <a:off x="8954348" y="4450525"/>
              <a:ext cx="440881" cy="1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1C4F8773-16B2-1919-F73C-4C8B642573B3}"/>
                </a:ext>
              </a:extLst>
            </p:cNvPr>
            <p:cNvCxnSpPr>
              <a:stCxn id="25" idx="3"/>
              <a:endCxn id="26" idx="1"/>
            </p:cNvCxnSpPr>
            <p:nvPr/>
          </p:nvCxnSpPr>
          <p:spPr>
            <a:xfrm>
              <a:off x="9729865" y="4450525"/>
              <a:ext cx="450583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61F0B1BD-31D0-3E7F-53B2-AEDB66CDD3F7}"/>
              </a:ext>
            </a:extLst>
          </p:cNvPr>
          <p:cNvSpPr txBox="1"/>
          <p:nvPr/>
        </p:nvSpPr>
        <p:spPr>
          <a:xfrm>
            <a:off x="89949" y="1785928"/>
            <a:ext cx="2085827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t-IT" altLang="zh-CN" sz="1900" b="1" dirty="0"/>
              <a:t>Scenario ii</a:t>
            </a:r>
          </a:p>
          <a:p>
            <a:r>
              <a:rPr lang="zh-CN" altLang="en-US" sz="1900" b="1" i="1" dirty="0">
                <a:latin typeface="+mn-ea"/>
              </a:rPr>
              <a:t>Collider variables</a:t>
            </a:r>
            <a:endParaRPr lang="en-US" altLang="zh-CN" sz="1900" b="1" i="1" dirty="0">
              <a:latin typeface="+mn-ea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277D8A9-8287-2A96-E9E8-ED8AC484E6AA}"/>
              </a:ext>
            </a:extLst>
          </p:cNvPr>
          <p:cNvGrpSpPr/>
          <p:nvPr/>
        </p:nvGrpSpPr>
        <p:grpSpPr>
          <a:xfrm>
            <a:off x="2982597" y="1915802"/>
            <a:ext cx="1992317" cy="417360"/>
            <a:chOff x="8630160" y="3327029"/>
            <a:chExt cx="1855073" cy="388609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1C6826F-1B58-F291-90A5-5F021B8FE87B}"/>
                </a:ext>
              </a:extLst>
            </p:cNvPr>
            <p:cNvSpPr/>
            <p:nvPr/>
          </p:nvSpPr>
          <p:spPr>
            <a:xfrm>
              <a:off x="8630160" y="3327030"/>
              <a:ext cx="324188" cy="38860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2075" b="1" dirty="0">
                  <a:solidFill>
                    <a:schemeClr val="tx1"/>
                  </a:solidFill>
                </a:rPr>
                <a:t>A</a:t>
              </a:r>
              <a:endParaRPr lang="zh-CN" altLang="en-US" sz="2075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D53B2F12-CD90-18B5-BB21-2C9A60BB99DA}"/>
                </a:ext>
              </a:extLst>
            </p:cNvPr>
            <p:cNvSpPr/>
            <p:nvPr/>
          </p:nvSpPr>
          <p:spPr>
            <a:xfrm>
              <a:off x="9395229" y="3327029"/>
              <a:ext cx="334637" cy="38860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2075" b="1" dirty="0">
                  <a:solidFill>
                    <a:schemeClr val="tx1"/>
                  </a:solidFill>
                </a:rPr>
                <a:t>	B</a:t>
              </a:r>
              <a:endParaRPr lang="zh-CN" altLang="en-US" sz="2075" b="1" dirty="0">
                <a:solidFill>
                  <a:schemeClr val="tx1"/>
                </a:solidFill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5F736627-10EF-3E6A-3463-63FF4B1F0484}"/>
                </a:ext>
              </a:extLst>
            </p:cNvPr>
            <p:cNvSpPr/>
            <p:nvPr/>
          </p:nvSpPr>
          <p:spPr>
            <a:xfrm>
              <a:off x="10180448" y="3327030"/>
              <a:ext cx="304785" cy="38860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2075" b="1" dirty="0">
                  <a:solidFill>
                    <a:schemeClr val="tx1"/>
                  </a:solidFill>
                </a:rPr>
                <a:t>C</a:t>
              </a:r>
              <a:endParaRPr lang="zh-CN" altLang="en-US" sz="2075" b="1" dirty="0">
                <a:solidFill>
                  <a:schemeClr val="tx1"/>
                </a:solidFill>
              </a:endParaRPr>
            </a:p>
          </p:txBody>
        </p: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63934A57-9AFD-FBFA-1122-EB7964192D76}"/>
                </a:ext>
              </a:extLst>
            </p:cNvPr>
            <p:cNvCxnSpPr>
              <a:stCxn id="29" idx="3"/>
              <a:endCxn id="30" idx="1"/>
            </p:cNvCxnSpPr>
            <p:nvPr/>
          </p:nvCxnSpPr>
          <p:spPr>
            <a:xfrm flipV="1">
              <a:off x="8954348" y="3521333"/>
              <a:ext cx="440881" cy="1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86E13DA8-DE3A-46BD-66A8-DF2317BCF988}"/>
                </a:ext>
              </a:extLst>
            </p:cNvPr>
            <p:cNvCxnSpPr>
              <a:stCxn id="30" idx="3"/>
              <a:endCxn id="31" idx="1"/>
            </p:cNvCxnSpPr>
            <p:nvPr/>
          </p:nvCxnSpPr>
          <p:spPr>
            <a:xfrm>
              <a:off x="9729865" y="3521333"/>
              <a:ext cx="450583" cy="1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5A39486-B12B-FF7C-9620-028D6705E2AD}"/>
              </a:ext>
            </a:extLst>
          </p:cNvPr>
          <p:cNvGrpSpPr/>
          <p:nvPr/>
        </p:nvGrpSpPr>
        <p:grpSpPr>
          <a:xfrm>
            <a:off x="132860" y="3875641"/>
            <a:ext cx="4842054" cy="1459325"/>
            <a:chOff x="229726" y="4198657"/>
            <a:chExt cx="4842054" cy="1459325"/>
          </a:xfrm>
        </p:grpSpPr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E026EECD-5DC5-F14B-4E67-E9BFF844781C}"/>
                </a:ext>
              </a:extLst>
            </p:cNvPr>
            <p:cNvCxnSpPr>
              <a:cxnSpLocks/>
            </p:cNvCxnSpPr>
            <p:nvPr/>
          </p:nvCxnSpPr>
          <p:spPr>
            <a:xfrm>
              <a:off x="420948" y="4479533"/>
              <a:ext cx="34972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F6E407C9-E8DE-49F8-960A-2F050145FD72}"/>
                </a:ext>
              </a:extLst>
            </p:cNvPr>
            <p:cNvSpPr txBox="1"/>
            <p:nvPr/>
          </p:nvSpPr>
          <p:spPr>
            <a:xfrm>
              <a:off x="770678" y="4313386"/>
              <a:ext cx="1354986" cy="34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11" b="1" dirty="0"/>
                <a:t>True causality</a:t>
              </a:r>
              <a:endParaRPr lang="zh-CN" altLang="en-US" sz="1611" b="1" dirty="0"/>
            </a:p>
          </p:txBody>
        </p: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97633511-ED08-358B-A55E-4B53B03815EA}"/>
                </a:ext>
              </a:extLst>
            </p:cNvPr>
            <p:cNvCxnSpPr>
              <a:cxnSpLocks/>
            </p:cNvCxnSpPr>
            <p:nvPr/>
          </p:nvCxnSpPr>
          <p:spPr>
            <a:xfrm>
              <a:off x="420948" y="4928930"/>
              <a:ext cx="349728" cy="0"/>
            </a:xfrm>
            <a:prstGeom prst="straightConnector1">
              <a:avLst/>
            </a:prstGeom>
            <a:ln w="25400">
              <a:solidFill>
                <a:srgbClr val="F36969"/>
              </a:solidFill>
              <a:headEnd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1F73E1D6-FEF1-EFCB-E4A9-713D2D4CB957}"/>
                </a:ext>
              </a:extLst>
            </p:cNvPr>
            <p:cNvSpPr txBox="1"/>
            <p:nvPr/>
          </p:nvSpPr>
          <p:spPr>
            <a:xfrm>
              <a:off x="770678" y="4763652"/>
              <a:ext cx="4127668" cy="340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11" b="1" dirty="0"/>
                <a:t>False positive causality (spurious causal link</a:t>
              </a:r>
              <a:r>
                <a:rPr lang="zh-CN" altLang="en-US" sz="1611" b="1" dirty="0"/>
                <a:t>）</a:t>
              </a:r>
            </a:p>
          </p:txBody>
        </p: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84D09DAF-30A6-7A75-C165-C828B7BAB356}"/>
                </a:ext>
              </a:extLst>
            </p:cNvPr>
            <p:cNvCxnSpPr>
              <a:cxnSpLocks/>
            </p:cNvCxnSpPr>
            <p:nvPr/>
          </p:nvCxnSpPr>
          <p:spPr>
            <a:xfrm>
              <a:off x="2250196" y="4483322"/>
              <a:ext cx="349728" cy="0"/>
            </a:xfrm>
            <a:prstGeom prst="straightConnector1">
              <a:avLst/>
            </a:prstGeom>
            <a:ln w="25400">
              <a:solidFill>
                <a:srgbClr val="7C7C7C"/>
              </a:solidFill>
              <a:prstDash val="dash"/>
              <a:headEnd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64EE039D-5EA4-ACE5-096C-6A6DABD680B5}"/>
                </a:ext>
              </a:extLst>
            </p:cNvPr>
            <p:cNvSpPr txBox="1"/>
            <p:nvPr/>
          </p:nvSpPr>
          <p:spPr>
            <a:xfrm>
              <a:off x="2599924" y="4317175"/>
              <a:ext cx="2448363" cy="340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11" b="1" dirty="0"/>
                <a:t>Ruled-out non-causal link</a:t>
              </a:r>
              <a:endParaRPr lang="zh-CN" altLang="en-US" sz="1611" b="1" dirty="0"/>
            </a:p>
          </p:txBody>
        </p:sp>
        <p:grpSp>
          <p:nvGrpSpPr>
            <p:cNvPr id="256" name="组合 255">
              <a:extLst>
                <a:ext uri="{FF2B5EF4-FFF2-40B4-BE49-F238E27FC236}">
                  <a16:creationId xmlns:a16="http://schemas.microsoft.com/office/drawing/2014/main" id="{74B94D33-EF68-33C2-B133-1672F159BA4F}"/>
                </a:ext>
              </a:extLst>
            </p:cNvPr>
            <p:cNvGrpSpPr/>
            <p:nvPr/>
          </p:nvGrpSpPr>
          <p:grpSpPr>
            <a:xfrm>
              <a:off x="420945" y="5193099"/>
              <a:ext cx="2138830" cy="344710"/>
              <a:chOff x="1144399" y="4748749"/>
              <a:chExt cx="1991493" cy="320965"/>
            </a:xfrm>
          </p:grpSpPr>
          <p:sp>
            <p:nvSpPr>
              <p:cNvPr id="251" name="文本框 250">
                <a:extLst>
                  <a:ext uri="{FF2B5EF4-FFF2-40B4-BE49-F238E27FC236}">
                    <a16:creationId xmlns:a16="http://schemas.microsoft.com/office/drawing/2014/main" id="{03B0D92F-82C3-A4C2-E65F-F1BADC7B2BF7}"/>
                  </a:ext>
                </a:extLst>
              </p:cNvPr>
              <p:cNvSpPr txBox="1"/>
              <p:nvPr/>
            </p:nvSpPr>
            <p:spPr>
              <a:xfrm>
                <a:off x="1484803" y="4748749"/>
                <a:ext cx="1651089" cy="3209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11" b="1" dirty="0"/>
                  <a:t>Optimal threshold</a:t>
                </a:r>
                <a:endParaRPr lang="zh-CN" altLang="en-US" sz="1611" b="1" dirty="0"/>
              </a:p>
            </p:txBody>
          </p:sp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20C8DCF3-AEFD-C187-2C50-96DF2785470D}"/>
                  </a:ext>
                </a:extLst>
              </p:cNvPr>
              <p:cNvSpPr txBox="1"/>
              <p:nvPr/>
            </p:nvSpPr>
            <p:spPr>
              <a:xfrm>
                <a:off x="1144399" y="4817998"/>
                <a:ext cx="340405" cy="184722"/>
              </a:xfrm>
              <a:prstGeom prst="rect">
                <a:avLst/>
              </a:prstGeom>
              <a:solidFill>
                <a:srgbClr val="FEC200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289" b="1" dirty="0">
                    <a:solidFill>
                      <a:schemeClr val="bg1"/>
                    </a:solidFill>
                  </a:rPr>
                  <a:t>0.00</a:t>
                </a:r>
                <a:endParaRPr lang="zh-CN" altLang="en-US" sz="1289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55" name="文本框 254">
              <a:extLst>
                <a:ext uri="{FF2B5EF4-FFF2-40B4-BE49-F238E27FC236}">
                  <a16:creationId xmlns:a16="http://schemas.microsoft.com/office/drawing/2014/main" id="{2B9D9A81-F71E-2A2F-F363-39C247B268BA}"/>
                </a:ext>
              </a:extLst>
            </p:cNvPr>
            <p:cNvSpPr txBox="1"/>
            <p:nvPr/>
          </p:nvSpPr>
          <p:spPr>
            <a:xfrm>
              <a:off x="2582623" y="5191560"/>
              <a:ext cx="2392065" cy="340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11" b="1" baseline="30000" dirty="0"/>
                <a:t>#</a:t>
              </a:r>
              <a:r>
                <a:rPr lang="en-US" altLang="zh-CN" sz="1611" b="1" dirty="0"/>
                <a:t> Not significant (p &gt; 0.05)</a:t>
              </a:r>
              <a:endParaRPr lang="zh-CN" altLang="en-US" sz="1611" b="1" dirty="0"/>
            </a:p>
          </p:txBody>
        </p:sp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2D844865-DD73-C765-CA6B-8F73ED72F7F8}"/>
                </a:ext>
              </a:extLst>
            </p:cNvPr>
            <p:cNvSpPr/>
            <p:nvPr/>
          </p:nvSpPr>
          <p:spPr>
            <a:xfrm>
              <a:off x="229726" y="4198657"/>
              <a:ext cx="4842054" cy="1459325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75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6380EA7F-9BEC-2539-12ED-3F2183C86EF8}"/>
              </a:ext>
            </a:extLst>
          </p:cNvPr>
          <p:cNvSpPr txBox="1"/>
          <p:nvPr/>
        </p:nvSpPr>
        <p:spPr>
          <a:xfrm>
            <a:off x="0" y="0"/>
            <a:ext cx="4383439" cy="462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36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causal scenarios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1BAECC-0989-01D3-981F-8CED7288F972}"/>
              </a:ext>
            </a:extLst>
          </p:cNvPr>
          <p:cNvSpPr txBox="1"/>
          <p:nvPr/>
        </p:nvSpPr>
        <p:spPr>
          <a:xfrm>
            <a:off x="5406152" y="0"/>
            <a:ext cx="3339223" cy="462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36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results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2" name="组合 241">
            <a:extLst>
              <a:ext uri="{FF2B5EF4-FFF2-40B4-BE49-F238E27FC236}">
                <a16:creationId xmlns:a16="http://schemas.microsoft.com/office/drawing/2014/main" id="{A65233AB-6C63-0BD4-4938-93B02E5F2E18}"/>
              </a:ext>
            </a:extLst>
          </p:cNvPr>
          <p:cNvGrpSpPr/>
          <p:nvPr/>
        </p:nvGrpSpPr>
        <p:grpSpPr>
          <a:xfrm>
            <a:off x="5835716" y="1048174"/>
            <a:ext cx="4269074" cy="1361360"/>
            <a:chOff x="6096000" y="460738"/>
            <a:chExt cx="4464514" cy="1423684"/>
          </a:xfrm>
        </p:grpSpPr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24C1002E-E6F9-A359-A265-3D37B11EC13B}"/>
                </a:ext>
              </a:extLst>
            </p:cNvPr>
            <p:cNvGrpSpPr/>
            <p:nvPr/>
          </p:nvGrpSpPr>
          <p:grpSpPr>
            <a:xfrm>
              <a:off x="6096000" y="460738"/>
              <a:ext cx="3594101" cy="1423684"/>
              <a:chOff x="7234454" y="1393028"/>
              <a:chExt cx="2989554" cy="1276431"/>
            </a:xfrm>
          </p:grpSpPr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406C91B7-690B-9E7D-51C0-4CF7EB50AD47}"/>
                  </a:ext>
                </a:extLst>
              </p:cNvPr>
              <p:cNvSpPr/>
              <p:nvPr/>
            </p:nvSpPr>
            <p:spPr>
              <a:xfrm>
                <a:off x="7234454" y="2195022"/>
                <a:ext cx="378619" cy="378619"/>
              </a:xfrm>
              <a:prstGeom prst="ellipse">
                <a:avLst/>
              </a:prstGeom>
              <a:solidFill>
                <a:srgbClr val="AD5264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75" b="1" dirty="0"/>
                  <a:t>A</a:t>
                </a:r>
                <a:endParaRPr lang="zh-CN" altLang="en-US" sz="2075" b="1" dirty="0"/>
              </a:p>
            </p:txBody>
          </p:sp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C6217287-E780-C8A8-85CD-2D954E346AAF}"/>
                  </a:ext>
                </a:extLst>
              </p:cNvPr>
              <p:cNvSpPr/>
              <p:nvPr/>
            </p:nvSpPr>
            <p:spPr>
              <a:xfrm>
                <a:off x="7896819" y="1393028"/>
                <a:ext cx="378619" cy="378619"/>
              </a:xfrm>
              <a:prstGeom prst="ellipse">
                <a:avLst/>
              </a:prstGeom>
              <a:solidFill>
                <a:srgbClr val="6184B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75" b="1" dirty="0"/>
                  <a:t>B</a:t>
                </a:r>
                <a:endParaRPr lang="zh-CN" altLang="en-US" sz="2075" b="1" dirty="0"/>
              </a:p>
            </p:txBody>
          </p: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D76C52BA-C5B5-98F9-87AA-7786D4536B5C}"/>
                  </a:ext>
                </a:extLst>
              </p:cNvPr>
              <p:cNvSpPr/>
              <p:nvPr/>
            </p:nvSpPr>
            <p:spPr>
              <a:xfrm>
                <a:off x="8582135" y="2211447"/>
                <a:ext cx="378619" cy="378619"/>
              </a:xfrm>
              <a:prstGeom prst="ellipse">
                <a:avLst/>
              </a:prstGeom>
              <a:solidFill>
                <a:srgbClr val="52894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75" b="1" dirty="0"/>
                  <a:t>C</a:t>
                </a:r>
                <a:endParaRPr lang="zh-CN" altLang="en-US" sz="2075" b="1" dirty="0"/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F250C630-B741-3736-24CE-A194F083D714}"/>
                  </a:ext>
                </a:extLst>
              </p:cNvPr>
              <p:cNvSpPr txBox="1"/>
              <p:nvPr/>
            </p:nvSpPr>
            <p:spPr>
              <a:xfrm rot="18932377">
                <a:off x="7379831" y="1728064"/>
                <a:ext cx="530156" cy="257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/>
                  <a:t>0.2703</a:t>
                </a:r>
                <a:endParaRPr lang="zh-CN" altLang="en-US" sz="1182" b="1" dirty="0"/>
              </a:p>
            </p:txBody>
          </p:sp>
          <p:cxnSp>
            <p:nvCxnSpPr>
              <p:cNvPr id="50" name="直接箭头连接符 49">
                <a:extLst>
                  <a:ext uri="{FF2B5EF4-FFF2-40B4-BE49-F238E27FC236}">
                    <a16:creationId xmlns:a16="http://schemas.microsoft.com/office/drawing/2014/main" id="{AA2174F9-856E-5FBA-CAEF-0622EFCC4F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62753" y="1694227"/>
                <a:ext cx="434066" cy="46650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箭头连接符 52">
                <a:extLst>
                  <a:ext uri="{FF2B5EF4-FFF2-40B4-BE49-F238E27FC236}">
                    <a16:creationId xmlns:a16="http://schemas.microsoft.com/office/drawing/2014/main" id="{7E4C4844-2BFE-E83B-5DDA-93BF75C05C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628099" y="2345851"/>
                <a:ext cx="904212" cy="18928"/>
              </a:xfrm>
              <a:prstGeom prst="straightConnector1">
                <a:avLst/>
              </a:prstGeom>
              <a:ln w="25400">
                <a:solidFill>
                  <a:srgbClr val="7C7C7C"/>
                </a:solidFill>
                <a:prstDash val="dash"/>
                <a:headEnd w="lg" len="med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箭头连接符 60">
                <a:extLst>
                  <a:ext uri="{FF2B5EF4-FFF2-40B4-BE49-F238E27FC236}">
                    <a16:creationId xmlns:a16="http://schemas.microsoft.com/office/drawing/2014/main" id="{D1078C51-3878-1116-666A-A060C6C4BF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40484" y="1790427"/>
                <a:ext cx="402582" cy="421020"/>
              </a:xfrm>
              <a:prstGeom prst="straightConnector1">
                <a:avLst/>
              </a:prstGeom>
              <a:ln w="25400">
                <a:solidFill>
                  <a:schemeClr val="accent3">
                    <a:lumMod val="75000"/>
                  </a:schemeClr>
                </a:solidFill>
                <a:prstDash val="dash"/>
                <a:headEnd type="none" w="lg" len="med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02469C12-0BC2-0F11-8256-E57E3A602184}"/>
                  </a:ext>
                </a:extLst>
              </p:cNvPr>
              <p:cNvSpPr txBox="1"/>
              <p:nvPr/>
            </p:nvSpPr>
            <p:spPr>
              <a:xfrm rot="19013698">
                <a:off x="7546983" y="1910889"/>
                <a:ext cx="530156" cy="257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>
                    <a:solidFill>
                      <a:srgbClr val="7C7C7C"/>
                    </a:solidFill>
                  </a:rPr>
                  <a:t>0.2075</a:t>
                </a:r>
                <a:endParaRPr lang="zh-CN" altLang="en-US" sz="1182" b="1" dirty="0">
                  <a:solidFill>
                    <a:srgbClr val="7C7C7C"/>
                  </a:solidFill>
                </a:endParaRPr>
              </a:p>
            </p:txBody>
          </p:sp>
          <p:cxnSp>
            <p:nvCxnSpPr>
              <p:cNvPr id="67" name="直接箭头连接符 66">
                <a:extLst>
                  <a:ext uri="{FF2B5EF4-FFF2-40B4-BE49-F238E27FC236}">
                    <a16:creationId xmlns:a16="http://schemas.microsoft.com/office/drawing/2014/main" id="{F30BA4F4-200C-3CAE-CD5E-BF98B8CD97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71841" y="1701814"/>
                <a:ext cx="434066" cy="46650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none" w="lg" len="med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箭头连接符 67">
                <a:extLst>
                  <a:ext uri="{FF2B5EF4-FFF2-40B4-BE49-F238E27FC236}">
                    <a16:creationId xmlns:a16="http://schemas.microsoft.com/office/drawing/2014/main" id="{1BAE7C2E-D87D-6776-ECC7-5DFAC3557D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96414" y="1774913"/>
                <a:ext cx="439110" cy="466155"/>
              </a:xfrm>
              <a:prstGeom prst="straightConnector1">
                <a:avLst/>
              </a:prstGeom>
              <a:ln w="25400">
                <a:solidFill>
                  <a:schemeClr val="accent3">
                    <a:lumMod val="75000"/>
                  </a:schemeClr>
                </a:solidFill>
                <a:prstDash val="dash"/>
                <a:headEnd type="triangl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FFF4728E-AFF3-425F-CCE5-75C36A999C1C}"/>
                  </a:ext>
                </a:extLst>
              </p:cNvPr>
              <p:cNvSpPr txBox="1"/>
              <p:nvPr/>
            </p:nvSpPr>
            <p:spPr>
              <a:xfrm rot="2705443">
                <a:off x="8251663" y="1743029"/>
                <a:ext cx="571440" cy="2385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/>
                  <a:t>0.2255</a:t>
                </a:r>
                <a:endParaRPr lang="zh-CN" altLang="en-US" sz="1182" b="1" dirty="0"/>
              </a:p>
            </p:txBody>
          </p:sp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86ED4DDF-8DA4-E0CA-5179-F81BE969AD19}"/>
                  </a:ext>
                </a:extLst>
              </p:cNvPr>
              <p:cNvSpPr txBox="1"/>
              <p:nvPr/>
            </p:nvSpPr>
            <p:spPr>
              <a:xfrm rot="2660691">
                <a:off x="8099447" y="1933951"/>
                <a:ext cx="530156" cy="257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>
                    <a:solidFill>
                      <a:srgbClr val="7C7C7C"/>
                    </a:solidFill>
                  </a:rPr>
                  <a:t>0.1513</a:t>
                </a:r>
                <a:endParaRPr lang="zh-CN" altLang="en-US" sz="1182" b="1" dirty="0">
                  <a:solidFill>
                    <a:srgbClr val="7C7C7C"/>
                  </a:solidFill>
                </a:endParaRPr>
              </a:p>
            </p:txBody>
          </p:sp>
          <p:cxnSp>
            <p:nvCxnSpPr>
              <p:cNvPr id="74" name="直接箭头连接符 73">
                <a:extLst>
                  <a:ext uri="{FF2B5EF4-FFF2-40B4-BE49-F238E27FC236}">
                    <a16:creationId xmlns:a16="http://schemas.microsoft.com/office/drawing/2014/main" id="{ED6C0027-BA11-A7C1-4CCD-A8F6BAFD14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638008" y="2444314"/>
                <a:ext cx="919193" cy="1142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CA877A1E-00C7-52C3-1240-B19E6097543B}"/>
                  </a:ext>
                </a:extLst>
              </p:cNvPr>
              <p:cNvSpPr txBox="1"/>
              <p:nvPr/>
            </p:nvSpPr>
            <p:spPr>
              <a:xfrm>
                <a:off x="7838634" y="2412326"/>
                <a:ext cx="530156" cy="257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/>
                  <a:t>0.2704</a:t>
                </a:r>
                <a:endParaRPr lang="zh-CN" altLang="en-US" sz="1182" b="1" dirty="0"/>
              </a:p>
            </p:txBody>
          </p: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C561DF4E-3EE1-A69F-3E3B-E1A397D52185}"/>
                  </a:ext>
                </a:extLst>
              </p:cNvPr>
              <p:cNvSpPr txBox="1"/>
              <p:nvPr/>
            </p:nvSpPr>
            <p:spPr>
              <a:xfrm>
                <a:off x="7833351" y="2153769"/>
                <a:ext cx="530156" cy="257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>
                    <a:solidFill>
                      <a:srgbClr val="7C7C7C"/>
                    </a:solidFill>
                  </a:rPr>
                  <a:t>0.1623</a:t>
                </a:r>
                <a:endParaRPr lang="zh-CN" altLang="en-US" sz="1182" b="1" dirty="0">
                  <a:solidFill>
                    <a:srgbClr val="7C7C7C"/>
                  </a:solidFill>
                </a:endParaRPr>
              </a:p>
            </p:txBody>
          </p:sp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7AF8735D-B5E0-5108-233B-8125AAA4325F}"/>
                  </a:ext>
                </a:extLst>
              </p:cNvPr>
              <p:cNvSpPr txBox="1"/>
              <p:nvPr/>
            </p:nvSpPr>
            <p:spPr>
              <a:xfrm>
                <a:off x="7939022" y="2010418"/>
                <a:ext cx="283147" cy="189318"/>
              </a:xfrm>
              <a:prstGeom prst="rect">
                <a:avLst/>
              </a:prstGeom>
              <a:solidFill>
                <a:srgbClr val="FEC200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289" b="1" dirty="0">
                    <a:solidFill>
                      <a:schemeClr val="bg1"/>
                    </a:solidFill>
                  </a:rPr>
                  <a:t>0.22</a:t>
                </a:r>
                <a:endParaRPr lang="zh-CN" altLang="en-US" sz="1289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4B4D4D17-0430-14EE-C268-C26AB1D04BC9}"/>
                  </a:ext>
                </a:extLst>
              </p:cNvPr>
              <p:cNvSpPr txBox="1"/>
              <p:nvPr/>
            </p:nvSpPr>
            <p:spPr>
              <a:xfrm>
                <a:off x="9940861" y="2010418"/>
                <a:ext cx="283147" cy="189318"/>
              </a:xfrm>
              <a:prstGeom prst="rect">
                <a:avLst/>
              </a:prstGeom>
              <a:solidFill>
                <a:srgbClr val="FEC200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289" b="1" dirty="0">
                    <a:solidFill>
                      <a:schemeClr val="bg1"/>
                    </a:solidFill>
                  </a:rPr>
                  <a:t>0.19</a:t>
                </a:r>
                <a:endParaRPr lang="zh-CN" altLang="en-US" sz="1289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1" name="组合 90">
              <a:extLst>
                <a:ext uri="{FF2B5EF4-FFF2-40B4-BE49-F238E27FC236}">
                  <a16:creationId xmlns:a16="http://schemas.microsoft.com/office/drawing/2014/main" id="{BB596B13-FF76-D2D8-F836-7F1547B11D93}"/>
                </a:ext>
              </a:extLst>
            </p:cNvPr>
            <p:cNvGrpSpPr/>
            <p:nvPr/>
          </p:nvGrpSpPr>
          <p:grpSpPr>
            <a:xfrm>
              <a:off x="8485122" y="462390"/>
              <a:ext cx="2075392" cy="1417512"/>
              <a:chOff x="7234454" y="1393028"/>
              <a:chExt cx="1726300" cy="1270897"/>
            </a:xfrm>
          </p:grpSpPr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AC409B12-530E-E1EC-0A6F-7089F8E3486A}"/>
                  </a:ext>
                </a:extLst>
              </p:cNvPr>
              <p:cNvSpPr/>
              <p:nvPr/>
            </p:nvSpPr>
            <p:spPr>
              <a:xfrm>
                <a:off x="7234454" y="2195022"/>
                <a:ext cx="378619" cy="378619"/>
              </a:xfrm>
              <a:prstGeom prst="ellipse">
                <a:avLst/>
              </a:prstGeom>
              <a:solidFill>
                <a:srgbClr val="AD5264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75" b="1" dirty="0"/>
                  <a:t>A</a:t>
                </a:r>
                <a:endParaRPr lang="zh-CN" altLang="en-US" sz="2075" b="1" dirty="0"/>
              </a:p>
            </p:txBody>
          </p:sp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9696B0B7-105C-EFDF-A6A1-0BF5B53A21C0}"/>
                  </a:ext>
                </a:extLst>
              </p:cNvPr>
              <p:cNvSpPr/>
              <p:nvPr/>
            </p:nvSpPr>
            <p:spPr>
              <a:xfrm>
                <a:off x="7896819" y="1393028"/>
                <a:ext cx="378619" cy="378619"/>
              </a:xfrm>
              <a:prstGeom prst="ellipse">
                <a:avLst/>
              </a:prstGeom>
              <a:solidFill>
                <a:srgbClr val="6184B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75" b="1" dirty="0"/>
                  <a:t>B</a:t>
                </a:r>
                <a:endParaRPr lang="zh-CN" altLang="en-US" sz="2075" b="1" dirty="0"/>
              </a:p>
            </p:txBody>
          </p:sp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6BCFD9AE-CB62-D1ED-DC4C-FE508C9F0BD5}"/>
                  </a:ext>
                </a:extLst>
              </p:cNvPr>
              <p:cNvSpPr/>
              <p:nvPr/>
            </p:nvSpPr>
            <p:spPr>
              <a:xfrm>
                <a:off x="8582135" y="2211447"/>
                <a:ext cx="378619" cy="378619"/>
              </a:xfrm>
              <a:prstGeom prst="ellipse">
                <a:avLst/>
              </a:prstGeom>
              <a:solidFill>
                <a:srgbClr val="52894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75" b="1" dirty="0"/>
                  <a:t>C</a:t>
                </a:r>
                <a:endParaRPr lang="zh-CN" altLang="en-US" sz="2075" b="1" dirty="0"/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32CA4823-A1D2-D361-920C-FD3251E99886}"/>
                  </a:ext>
                </a:extLst>
              </p:cNvPr>
              <p:cNvSpPr txBox="1"/>
              <p:nvPr/>
            </p:nvSpPr>
            <p:spPr>
              <a:xfrm rot="18932377">
                <a:off x="7367164" y="1731988"/>
                <a:ext cx="538522" cy="2601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/>
                  <a:t>0.3102</a:t>
                </a:r>
                <a:endParaRPr lang="zh-CN" altLang="en-US" sz="1182" b="1" dirty="0"/>
              </a:p>
            </p:txBody>
          </p:sp>
          <p:cxnSp>
            <p:nvCxnSpPr>
              <p:cNvPr id="96" name="直接箭头连接符 95">
                <a:extLst>
                  <a:ext uri="{FF2B5EF4-FFF2-40B4-BE49-F238E27FC236}">
                    <a16:creationId xmlns:a16="http://schemas.microsoft.com/office/drawing/2014/main" id="{53F2DBC8-BB58-F815-1356-23C007373A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62753" y="1694227"/>
                <a:ext cx="434066" cy="46650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箭头连接符 96">
                <a:extLst>
                  <a:ext uri="{FF2B5EF4-FFF2-40B4-BE49-F238E27FC236}">
                    <a16:creationId xmlns:a16="http://schemas.microsoft.com/office/drawing/2014/main" id="{BC212A83-9EE4-35C9-B14A-B54C864DBB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628099" y="2345851"/>
                <a:ext cx="904212" cy="18928"/>
              </a:xfrm>
              <a:prstGeom prst="straightConnector1">
                <a:avLst/>
              </a:prstGeom>
              <a:ln w="25400">
                <a:solidFill>
                  <a:srgbClr val="F36969"/>
                </a:solidFill>
                <a:prstDash val="solid"/>
                <a:headEnd w="lg" len="lg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接箭头连接符 97">
                <a:extLst>
                  <a:ext uri="{FF2B5EF4-FFF2-40B4-BE49-F238E27FC236}">
                    <a16:creationId xmlns:a16="http://schemas.microsoft.com/office/drawing/2014/main" id="{82DAF04E-F100-AFF2-92ED-2B3379F4EE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40484" y="1790427"/>
                <a:ext cx="402582" cy="421020"/>
              </a:xfrm>
              <a:prstGeom prst="straightConnector1">
                <a:avLst/>
              </a:prstGeom>
              <a:ln w="25400">
                <a:solidFill>
                  <a:srgbClr val="F36969"/>
                </a:solidFill>
                <a:prstDash val="solid"/>
                <a:headEnd type="none" w="lg" len="med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82FBB4AD-0BCC-8B56-3F27-AE56CF3738A7}"/>
                  </a:ext>
                </a:extLst>
              </p:cNvPr>
              <p:cNvSpPr txBox="1"/>
              <p:nvPr/>
            </p:nvSpPr>
            <p:spPr>
              <a:xfrm rot="19013698">
                <a:off x="7546981" y="1916583"/>
                <a:ext cx="530155" cy="257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>
                    <a:solidFill>
                      <a:srgbClr val="F36969"/>
                    </a:solidFill>
                  </a:rPr>
                  <a:t>0.2059</a:t>
                </a:r>
                <a:endParaRPr lang="zh-CN" altLang="en-US" sz="1182" b="1" dirty="0">
                  <a:solidFill>
                    <a:srgbClr val="F36969"/>
                  </a:solidFill>
                </a:endParaRPr>
              </a:p>
            </p:txBody>
          </p:sp>
          <p:cxnSp>
            <p:nvCxnSpPr>
              <p:cNvPr id="100" name="直接箭头连接符 99">
                <a:extLst>
                  <a:ext uri="{FF2B5EF4-FFF2-40B4-BE49-F238E27FC236}">
                    <a16:creationId xmlns:a16="http://schemas.microsoft.com/office/drawing/2014/main" id="{4C7E4323-471F-D166-7638-87BD2832E3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71841" y="1701814"/>
                <a:ext cx="434066" cy="46650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headEnd type="none" w="lg" len="med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箭头连接符 100">
                <a:extLst>
                  <a:ext uri="{FF2B5EF4-FFF2-40B4-BE49-F238E27FC236}">
                    <a16:creationId xmlns:a16="http://schemas.microsoft.com/office/drawing/2014/main" id="{6E5F4CC6-4E1A-77C4-F674-606F8AD586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96414" y="1774913"/>
                <a:ext cx="439110" cy="466155"/>
              </a:xfrm>
              <a:prstGeom prst="straightConnector1">
                <a:avLst/>
              </a:prstGeom>
              <a:ln w="25400">
                <a:solidFill>
                  <a:srgbClr val="F36969"/>
                </a:solidFill>
                <a:prstDash val="solid"/>
                <a:headEnd type="triangl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9A281DBF-41C3-DD42-87D2-91BB484818F4}"/>
                  </a:ext>
                </a:extLst>
              </p:cNvPr>
              <p:cNvSpPr txBox="1"/>
              <p:nvPr/>
            </p:nvSpPr>
            <p:spPr>
              <a:xfrm rot="2705443">
                <a:off x="8250910" y="1740152"/>
                <a:ext cx="580458" cy="2413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/>
                  <a:t>0.1980</a:t>
                </a:r>
                <a:endParaRPr lang="zh-CN" altLang="en-US" sz="1182" b="1" dirty="0"/>
              </a:p>
            </p:txBody>
          </p:sp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3BF580BF-11FC-A1E4-A86A-917B9084F15D}"/>
                  </a:ext>
                </a:extLst>
              </p:cNvPr>
              <p:cNvSpPr txBox="1"/>
              <p:nvPr/>
            </p:nvSpPr>
            <p:spPr>
              <a:xfrm rot="2660691">
                <a:off x="8102969" y="1936799"/>
                <a:ext cx="530155" cy="257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>
                    <a:solidFill>
                      <a:srgbClr val="F36969"/>
                    </a:solidFill>
                  </a:rPr>
                  <a:t>0.1974</a:t>
                </a:r>
                <a:endParaRPr lang="zh-CN" altLang="en-US" sz="1182" b="1" dirty="0">
                  <a:solidFill>
                    <a:srgbClr val="F36969"/>
                  </a:solidFill>
                </a:endParaRPr>
              </a:p>
            </p:txBody>
          </p:sp>
          <p:cxnSp>
            <p:nvCxnSpPr>
              <p:cNvPr id="104" name="直接箭头连接符 103">
                <a:extLst>
                  <a:ext uri="{FF2B5EF4-FFF2-40B4-BE49-F238E27FC236}">
                    <a16:creationId xmlns:a16="http://schemas.microsoft.com/office/drawing/2014/main" id="{8971825D-2913-2722-4FE3-4DAC09498E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638008" y="2444314"/>
                <a:ext cx="919193" cy="1142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82CF0B65-5371-A9D7-3E39-5C508D87A465}"/>
                  </a:ext>
                </a:extLst>
              </p:cNvPr>
              <p:cNvSpPr txBox="1"/>
              <p:nvPr/>
            </p:nvSpPr>
            <p:spPr>
              <a:xfrm>
                <a:off x="7831591" y="2403786"/>
                <a:ext cx="538522" cy="2601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/>
                  <a:t>0.4822</a:t>
                </a:r>
                <a:endParaRPr lang="zh-CN" altLang="en-US" sz="1182" b="1" dirty="0"/>
              </a:p>
            </p:txBody>
          </p:sp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27E1ED99-751D-426C-7BE7-C4825FC924BB}"/>
                  </a:ext>
                </a:extLst>
              </p:cNvPr>
              <p:cNvSpPr txBox="1"/>
              <p:nvPr/>
            </p:nvSpPr>
            <p:spPr>
              <a:xfrm>
                <a:off x="7834232" y="2155666"/>
                <a:ext cx="530155" cy="257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>
                    <a:solidFill>
                      <a:srgbClr val="F36969"/>
                    </a:solidFill>
                  </a:rPr>
                  <a:t>0.3089</a:t>
                </a:r>
                <a:endParaRPr lang="zh-CN" altLang="en-US" sz="1182" b="1" dirty="0">
                  <a:solidFill>
                    <a:srgbClr val="F36969"/>
                  </a:solidFill>
                </a:endParaRPr>
              </a:p>
            </p:txBody>
          </p:sp>
        </p:grpSp>
      </p:grpSp>
      <p:grpSp>
        <p:nvGrpSpPr>
          <p:cNvPr id="243" name="组合 242">
            <a:extLst>
              <a:ext uri="{FF2B5EF4-FFF2-40B4-BE49-F238E27FC236}">
                <a16:creationId xmlns:a16="http://schemas.microsoft.com/office/drawing/2014/main" id="{D07A14AC-4DA5-EEF4-F89C-73E3A2213F42}"/>
              </a:ext>
            </a:extLst>
          </p:cNvPr>
          <p:cNvGrpSpPr/>
          <p:nvPr/>
        </p:nvGrpSpPr>
        <p:grpSpPr>
          <a:xfrm>
            <a:off x="5835716" y="2525923"/>
            <a:ext cx="4269074" cy="1361360"/>
            <a:chOff x="6096000" y="2006718"/>
            <a:chExt cx="4464514" cy="1423684"/>
          </a:xfrm>
        </p:grpSpPr>
        <p:grpSp>
          <p:nvGrpSpPr>
            <p:cNvPr id="174" name="组合 173">
              <a:extLst>
                <a:ext uri="{FF2B5EF4-FFF2-40B4-BE49-F238E27FC236}">
                  <a16:creationId xmlns:a16="http://schemas.microsoft.com/office/drawing/2014/main" id="{335F00C8-3A2F-0877-CFD3-41126D9F5855}"/>
                </a:ext>
              </a:extLst>
            </p:cNvPr>
            <p:cNvGrpSpPr/>
            <p:nvPr/>
          </p:nvGrpSpPr>
          <p:grpSpPr>
            <a:xfrm>
              <a:off x="6096000" y="2006718"/>
              <a:ext cx="3594101" cy="1423684"/>
              <a:chOff x="7234454" y="1393028"/>
              <a:chExt cx="2989554" cy="1276431"/>
            </a:xfrm>
          </p:grpSpPr>
          <p:sp>
            <p:nvSpPr>
              <p:cNvPr id="175" name="椭圆 174">
                <a:extLst>
                  <a:ext uri="{FF2B5EF4-FFF2-40B4-BE49-F238E27FC236}">
                    <a16:creationId xmlns:a16="http://schemas.microsoft.com/office/drawing/2014/main" id="{A09C79A2-1F7F-F0FB-4A78-2A96A8AA959E}"/>
                  </a:ext>
                </a:extLst>
              </p:cNvPr>
              <p:cNvSpPr/>
              <p:nvPr/>
            </p:nvSpPr>
            <p:spPr>
              <a:xfrm>
                <a:off x="7234454" y="2195022"/>
                <a:ext cx="378619" cy="378619"/>
              </a:xfrm>
              <a:prstGeom prst="ellipse">
                <a:avLst/>
              </a:prstGeom>
              <a:solidFill>
                <a:srgbClr val="AD5264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75" b="1" dirty="0"/>
                  <a:t>A</a:t>
                </a:r>
                <a:endParaRPr lang="zh-CN" altLang="en-US" sz="2075" b="1" dirty="0"/>
              </a:p>
            </p:txBody>
          </p:sp>
          <p:sp>
            <p:nvSpPr>
              <p:cNvPr id="176" name="椭圆 175">
                <a:extLst>
                  <a:ext uri="{FF2B5EF4-FFF2-40B4-BE49-F238E27FC236}">
                    <a16:creationId xmlns:a16="http://schemas.microsoft.com/office/drawing/2014/main" id="{1BD008BE-9A0D-D02D-5325-E87291BE73C4}"/>
                  </a:ext>
                </a:extLst>
              </p:cNvPr>
              <p:cNvSpPr/>
              <p:nvPr/>
            </p:nvSpPr>
            <p:spPr>
              <a:xfrm>
                <a:off x="7896819" y="1393028"/>
                <a:ext cx="378619" cy="378619"/>
              </a:xfrm>
              <a:prstGeom prst="ellipse">
                <a:avLst/>
              </a:prstGeom>
              <a:solidFill>
                <a:srgbClr val="6184B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75" b="1" dirty="0"/>
                  <a:t>B</a:t>
                </a:r>
                <a:endParaRPr lang="zh-CN" altLang="en-US" sz="2075" b="1" dirty="0"/>
              </a:p>
            </p:txBody>
          </p:sp>
          <p:sp>
            <p:nvSpPr>
              <p:cNvPr id="177" name="椭圆 176">
                <a:extLst>
                  <a:ext uri="{FF2B5EF4-FFF2-40B4-BE49-F238E27FC236}">
                    <a16:creationId xmlns:a16="http://schemas.microsoft.com/office/drawing/2014/main" id="{845746F3-FC36-D8B1-F99F-03B6BEBD12A9}"/>
                  </a:ext>
                </a:extLst>
              </p:cNvPr>
              <p:cNvSpPr/>
              <p:nvPr/>
            </p:nvSpPr>
            <p:spPr>
              <a:xfrm>
                <a:off x="8582135" y="2211447"/>
                <a:ext cx="378619" cy="378619"/>
              </a:xfrm>
              <a:prstGeom prst="ellipse">
                <a:avLst/>
              </a:prstGeom>
              <a:solidFill>
                <a:srgbClr val="52894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75" b="1" dirty="0"/>
                  <a:t>C</a:t>
                </a:r>
                <a:endParaRPr lang="zh-CN" altLang="en-US" sz="2075" b="1" dirty="0"/>
              </a:p>
            </p:txBody>
          </p:sp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079BF657-E564-6570-447D-AB161F2B59A5}"/>
                  </a:ext>
                </a:extLst>
              </p:cNvPr>
              <p:cNvSpPr txBox="1"/>
              <p:nvPr/>
            </p:nvSpPr>
            <p:spPr>
              <a:xfrm rot="18932377">
                <a:off x="7379831" y="1728064"/>
                <a:ext cx="530156" cy="257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/>
                  <a:t>0.3989</a:t>
                </a:r>
                <a:endParaRPr lang="zh-CN" altLang="en-US" sz="1182" b="1" dirty="0"/>
              </a:p>
            </p:txBody>
          </p:sp>
          <p:cxnSp>
            <p:nvCxnSpPr>
              <p:cNvPr id="179" name="直接箭头连接符 178">
                <a:extLst>
                  <a:ext uri="{FF2B5EF4-FFF2-40B4-BE49-F238E27FC236}">
                    <a16:creationId xmlns:a16="http://schemas.microsoft.com/office/drawing/2014/main" id="{973354C1-D3E6-BE45-F9F7-D0E134F81F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62753" y="1694227"/>
                <a:ext cx="434066" cy="46650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接箭头连接符 179">
                <a:extLst>
                  <a:ext uri="{FF2B5EF4-FFF2-40B4-BE49-F238E27FC236}">
                    <a16:creationId xmlns:a16="http://schemas.microsoft.com/office/drawing/2014/main" id="{6EDD83B3-226B-6204-1875-9C93F229BD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628099" y="2345851"/>
                <a:ext cx="904212" cy="18928"/>
              </a:xfrm>
              <a:prstGeom prst="straightConnector1">
                <a:avLst/>
              </a:prstGeom>
              <a:ln w="25400">
                <a:solidFill>
                  <a:srgbClr val="7C7C7C"/>
                </a:solidFill>
                <a:prstDash val="dash"/>
                <a:headEnd w="lg" len="lg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接箭头连接符 180">
                <a:extLst>
                  <a:ext uri="{FF2B5EF4-FFF2-40B4-BE49-F238E27FC236}">
                    <a16:creationId xmlns:a16="http://schemas.microsoft.com/office/drawing/2014/main" id="{034908D2-A44F-0AD4-8341-D305A6515A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40484" y="1790427"/>
                <a:ext cx="402582" cy="421020"/>
              </a:xfrm>
              <a:prstGeom prst="straightConnector1">
                <a:avLst/>
              </a:prstGeom>
              <a:ln w="25400">
                <a:solidFill>
                  <a:schemeClr val="accent3">
                    <a:lumMod val="75000"/>
                  </a:schemeClr>
                </a:solidFill>
                <a:prstDash val="dash"/>
                <a:headEnd type="none" w="lg" len="med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94AC351E-DF5D-93DA-2E00-FAE9E8A7A7EF}"/>
                  </a:ext>
                </a:extLst>
              </p:cNvPr>
              <p:cNvSpPr txBox="1"/>
              <p:nvPr/>
            </p:nvSpPr>
            <p:spPr>
              <a:xfrm rot="19013698">
                <a:off x="7546983" y="1910889"/>
                <a:ext cx="530156" cy="257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>
                    <a:solidFill>
                      <a:srgbClr val="7C7C7C"/>
                    </a:solidFill>
                  </a:rPr>
                  <a:t>0.2888</a:t>
                </a:r>
                <a:endParaRPr lang="zh-CN" altLang="en-US" sz="1182" b="1" dirty="0">
                  <a:solidFill>
                    <a:srgbClr val="7C7C7C"/>
                  </a:solidFill>
                </a:endParaRPr>
              </a:p>
            </p:txBody>
          </p:sp>
          <p:cxnSp>
            <p:nvCxnSpPr>
              <p:cNvPr id="183" name="直接箭头连接符 182">
                <a:extLst>
                  <a:ext uri="{FF2B5EF4-FFF2-40B4-BE49-F238E27FC236}">
                    <a16:creationId xmlns:a16="http://schemas.microsoft.com/office/drawing/2014/main" id="{300F3B61-EB73-9E8F-7F21-D992BDDE29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71841" y="1701814"/>
                <a:ext cx="434066" cy="46650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箭头连接符 183">
                <a:extLst>
                  <a:ext uri="{FF2B5EF4-FFF2-40B4-BE49-F238E27FC236}">
                    <a16:creationId xmlns:a16="http://schemas.microsoft.com/office/drawing/2014/main" id="{EA3A551B-91B3-1837-178B-92ABE058E0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96414" y="1774913"/>
                <a:ext cx="439110" cy="466155"/>
              </a:xfrm>
              <a:prstGeom prst="straightConnector1">
                <a:avLst/>
              </a:prstGeom>
              <a:ln w="25400">
                <a:solidFill>
                  <a:schemeClr val="accent3">
                    <a:lumMod val="75000"/>
                  </a:schemeClr>
                </a:solidFill>
                <a:prstDash val="dash"/>
                <a:headEnd type="none" w="lg" len="med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82BFC381-4517-073D-340F-A6E9BAB8952F}"/>
                  </a:ext>
                </a:extLst>
              </p:cNvPr>
              <p:cNvSpPr txBox="1"/>
              <p:nvPr/>
            </p:nvSpPr>
            <p:spPr>
              <a:xfrm rot="2705443">
                <a:off x="8251663" y="1743029"/>
                <a:ext cx="571440" cy="2385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/>
                  <a:t>0.3553</a:t>
                </a:r>
                <a:endParaRPr lang="zh-CN" altLang="en-US" sz="1182" b="1" dirty="0"/>
              </a:p>
            </p:txBody>
          </p:sp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E05E619A-27A9-9B08-C81F-3FEC6F89232C}"/>
                  </a:ext>
                </a:extLst>
              </p:cNvPr>
              <p:cNvSpPr txBox="1"/>
              <p:nvPr/>
            </p:nvSpPr>
            <p:spPr>
              <a:xfrm rot="2660691">
                <a:off x="8099447" y="1933951"/>
                <a:ext cx="530156" cy="257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>
                    <a:solidFill>
                      <a:srgbClr val="7C7C7C"/>
                    </a:solidFill>
                  </a:rPr>
                  <a:t>0.2544</a:t>
                </a:r>
                <a:endParaRPr lang="zh-CN" altLang="en-US" sz="1182" b="1" dirty="0">
                  <a:solidFill>
                    <a:srgbClr val="7C7C7C"/>
                  </a:solidFill>
                </a:endParaRPr>
              </a:p>
            </p:txBody>
          </p:sp>
          <p:cxnSp>
            <p:nvCxnSpPr>
              <p:cNvPr id="187" name="直接箭头连接符 186">
                <a:extLst>
                  <a:ext uri="{FF2B5EF4-FFF2-40B4-BE49-F238E27FC236}">
                    <a16:creationId xmlns:a16="http://schemas.microsoft.com/office/drawing/2014/main" id="{38A83C3D-36D3-2379-7857-EC81A16B181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638008" y="2444314"/>
                <a:ext cx="919193" cy="11423"/>
              </a:xfrm>
              <a:prstGeom prst="straightConnector1">
                <a:avLst/>
              </a:prstGeom>
              <a:ln w="25400">
                <a:solidFill>
                  <a:srgbClr val="7C7C7C"/>
                </a:solidFill>
                <a:prstDash val="dash"/>
                <a:headEnd type="triangl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8" name="文本框 187">
                <a:extLst>
                  <a:ext uri="{FF2B5EF4-FFF2-40B4-BE49-F238E27FC236}">
                    <a16:creationId xmlns:a16="http://schemas.microsoft.com/office/drawing/2014/main" id="{23224738-2CAA-668B-6133-2AE4CC51EC7C}"/>
                  </a:ext>
                </a:extLst>
              </p:cNvPr>
              <p:cNvSpPr txBox="1"/>
              <p:nvPr/>
            </p:nvSpPr>
            <p:spPr>
              <a:xfrm>
                <a:off x="7838634" y="2412326"/>
                <a:ext cx="592904" cy="257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>
                    <a:solidFill>
                      <a:srgbClr val="7C7C7C"/>
                    </a:solidFill>
                  </a:rPr>
                  <a:t>0.4095</a:t>
                </a:r>
                <a:r>
                  <a:rPr lang="en-US" altLang="zh-CN" sz="1182" b="1" baseline="30000" dirty="0">
                    <a:solidFill>
                      <a:srgbClr val="7C7C7C"/>
                    </a:solidFill>
                  </a:rPr>
                  <a:t>#</a:t>
                </a:r>
                <a:endParaRPr lang="zh-CN" altLang="en-US" sz="1182" b="1" baseline="30000" dirty="0">
                  <a:solidFill>
                    <a:srgbClr val="7C7C7C"/>
                  </a:solidFill>
                </a:endParaRPr>
              </a:p>
            </p:txBody>
          </p:sp>
          <p:sp>
            <p:nvSpPr>
              <p:cNvPr id="189" name="文本框 188">
                <a:extLst>
                  <a:ext uri="{FF2B5EF4-FFF2-40B4-BE49-F238E27FC236}">
                    <a16:creationId xmlns:a16="http://schemas.microsoft.com/office/drawing/2014/main" id="{990E9EA1-C99A-9B32-93D6-6D3E7E702549}"/>
                  </a:ext>
                </a:extLst>
              </p:cNvPr>
              <p:cNvSpPr txBox="1"/>
              <p:nvPr/>
            </p:nvSpPr>
            <p:spPr>
              <a:xfrm>
                <a:off x="7833351" y="2153769"/>
                <a:ext cx="595693" cy="257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>
                    <a:solidFill>
                      <a:srgbClr val="7C7C7C"/>
                    </a:solidFill>
                  </a:rPr>
                  <a:t>0.4583</a:t>
                </a:r>
                <a:r>
                  <a:rPr lang="en-US" altLang="zh-CN" sz="1182" b="1" baseline="30000" dirty="0">
                    <a:solidFill>
                      <a:srgbClr val="7C7C7C"/>
                    </a:solidFill>
                  </a:rPr>
                  <a:t>#</a:t>
                </a:r>
                <a:endParaRPr lang="zh-CN" altLang="en-US" sz="1182" b="1" baseline="30000" dirty="0">
                  <a:solidFill>
                    <a:srgbClr val="7C7C7C"/>
                  </a:solidFill>
                </a:endParaRPr>
              </a:p>
            </p:txBody>
          </p:sp>
          <p:sp>
            <p:nvSpPr>
              <p:cNvPr id="190" name="文本框 189">
                <a:extLst>
                  <a:ext uri="{FF2B5EF4-FFF2-40B4-BE49-F238E27FC236}">
                    <a16:creationId xmlns:a16="http://schemas.microsoft.com/office/drawing/2014/main" id="{36A21F3D-0D1C-A512-2C1C-05F13FC3BE41}"/>
                  </a:ext>
                </a:extLst>
              </p:cNvPr>
              <p:cNvSpPr txBox="1"/>
              <p:nvPr/>
            </p:nvSpPr>
            <p:spPr>
              <a:xfrm>
                <a:off x="7939022" y="2010418"/>
                <a:ext cx="283147" cy="189318"/>
              </a:xfrm>
              <a:prstGeom prst="rect">
                <a:avLst/>
              </a:prstGeom>
              <a:solidFill>
                <a:srgbClr val="FEC200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289" b="1" dirty="0">
                    <a:solidFill>
                      <a:schemeClr val="bg1"/>
                    </a:solidFill>
                  </a:rPr>
                  <a:t>0.35</a:t>
                </a:r>
                <a:endParaRPr lang="zh-CN" altLang="en-US" sz="1289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1" name="文本框 190">
                <a:extLst>
                  <a:ext uri="{FF2B5EF4-FFF2-40B4-BE49-F238E27FC236}">
                    <a16:creationId xmlns:a16="http://schemas.microsoft.com/office/drawing/2014/main" id="{025A121A-A5E8-2B84-2DE3-AD3050CCB596}"/>
                  </a:ext>
                </a:extLst>
              </p:cNvPr>
              <p:cNvSpPr txBox="1"/>
              <p:nvPr/>
            </p:nvSpPr>
            <p:spPr>
              <a:xfrm>
                <a:off x="9940861" y="2010418"/>
                <a:ext cx="283147" cy="189318"/>
              </a:xfrm>
              <a:prstGeom prst="rect">
                <a:avLst/>
              </a:prstGeom>
              <a:solidFill>
                <a:srgbClr val="FEC200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289" b="1" dirty="0">
                    <a:solidFill>
                      <a:schemeClr val="bg1"/>
                    </a:solidFill>
                  </a:rPr>
                  <a:t>0.58</a:t>
                </a:r>
                <a:endParaRPr lang="zh-CN" altLang="en-US" sz="1289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92" name="组合 191">
              <a:extLst>
                <a:ext uri="{FF2B5EF4-FFF2-40B4-BE49-F238E27FC236}">
                  <a16:creationId xmlns:a16="http://schemas.microsoft.com/office/drawing/2014/main" id="{80FD57E9-A2A0-7777-4692-5954A43BC254}"/>
                </a:ext>
              </a:extLst>
            </p:cNvPr>
            <p:cNvGrpSpPr/>
            <p:nvPr/>
          </p:nvGrpSpPr>
          <p:grpSpPr>
            <a:xfrm>
              <a:off x="8485122" y="2008370"/>
              <a:ext cx="2075392" cy="1417512"/>
              <a:chOff x="7234454" y="1393028"/>
              <a:chExt cx="1726300" cy="1270897"/>
            </a:xfrm>
          </p:grpSpPr>
          <p:sp>
            <p:nvSpPr>
              <p:cNvPr id="193" name="椭圆 192">
                <a:extLst>
                  <a:ext uri="{FF2B5EF4-FFF2-40B4-BE49-F238E27FC236}">
                    <a16:creationId xmlns:a16="http://schemas.microsoft.com/office/drawing/2014/main" id="{6C32199B-7FD6-A8D7-5002-249310842E24}"/>
                  </a:ext>
                </a:extLst>
              </p:cNvPr>
              <p:cNvSpPr/>
              <p:nvPr/>
            </p:nvSpPr>
            <p:spPr>
              <a:xfrm>
                <a:off x="7234454" y="2195022"/>
                <a:ext cx="378619" cy="378619"/>
              </a:xfrm>
              <a:prstGeom prst="ellipse">
                <a:avLst/>
              </a:prstGeom>
              <a:solidFill>
                <a:srgbClr val="AD5264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75" b="1" dirty="0"/>
                  <a:t>A</a:t>
                </a:r>
                <a:endParaRPr lang="zh-CN" altLang="en-US" sz="2075" b="1" dirty="0"/>
              </a:p>
            </p:txBody>
          </p:sp>
          <p:sp>
            <p:nvSpPr>
              <p:cNvPr id="194" name="椭圆 193">
                <a:extLst>
                  <a:ext uri="{FF2B5EF4-FFF2-40B4-BE49-F238E27FC236}">
                    <a16:creationId xmlns:a16="http://schemas.microsoft.com/office/drawing/2014/main" id="{284CCC1C-D876-9621-3FD4-02996514130C}"/>
                  </a:ext>
                </a:extLst>
              </p:cNvPr>
              <p:cNvSpPr/>
              <p:nvPr/>
            </p:nvSpPr>
            <p:spPr>
              <a:xfrm>
                <a:off x="7896819" y="1393028"/>
                <a:ext cx="378619" cy="378619"/>
              </a:xfrm>
              <a:prstGeom prst="ellipse">
                <a:avLst/>
              </a:prstGeom>
              <a:solidFill>
                <a:srgbClr val="6184B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75" b="1" dirty="0"/>
                  <a:t>B</a:t>
                </a:r>
                <a:endParaRPr lang="zh-CN" altLang="en-US" sz="2075" b="1" dirty="0"/>
              </a:p>
            </p:txBody>
          </p:sp>
          <p:sp>
            <p:nvSpPr>
              <p:cNvPr id="195" name="椭圆 194">
                <a:extLst>
                  <a:ext uri="{FF2B5EF4-FFF2-40B4-BE49-F238E27FC236}">
                    <a16:creationId xmlns:a16="http://schemas.microsoft.com/office/drawing/2014/main" id="{3620CF73-AEB3-41EC-C7BC-4422F2DA3436}"/>
                  </a:ext>
                </a:extLst>
              </p:cNvPr>
              <p:cNvSpPr/>
              <p:nvPr/>
            </p:nvSpPr>
            <p:spPr>
              <a:xfrm>
                <a:off x="8582135" y="2211447"/>
                <a:ext cx="378619" cy="378619"/>
              </a:xfrm>
              <a:prstGeom prst="ellipse">
                <a:avLst/>
              </a:prstGeom>
              <a:solidFill>
                <a:srgbClr val="52894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75" b="1" dirty="0"/>
                  <a:t>C</a:t>
                </a:r>
                <a:endParaRPr lang="zh-CN" altLang="en-US" sz="2075" b="1" dirty="0"/>
              </a:p>
            </p:txBody>
          </p:sp>
          <p:sp>
            <p:nvSpPr>
              <p:cNvPr id="196" name="文本框 195">
                <a:extLst>
                  <a:ext uri="{FF2B5EF4-FFF2-40B4-BE49-F238E27FC236}">
                    <a16:creationId xmlns:a16="http://schemas.microsoft.com/office/drawing/2014/main" id="{99A29D61-6481-52DB-8FEC-1A4A4034B4EB}"/>
                  </a:ext>
                </a:extLst>
              </p:cNvPr>
              <p:cNvSpPr txBox="1"/>
              <p:nvPr/>
            </p:nvSpPr>
            <p:spPr>
              <a:xfrm rot="18932377">
                <a:off x="7371347" y="1733491"/>
                <a:ext cx="530155" cy="257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/>
                  <a:t>0.5877</a:t>
                </a:r>
                <a:endParaRPr lang="zh-CN" altLang="en-US" sz="1182" b="1" dirty="0"/>
              </a:p>
            </p:txBody>
          </p:sp>
          <p:cxnSp>
            <p:nvCxnSpPr>
              <p:cNvPr id="197" name="直接箭头连接符 196">
                <a:extLst>
                  <a:ext uri="{FF2B5EF4-FFF2-40B4-BE49-F238E27FC236}">
                    <a16:creationId xmlns:a16="http://schemas.microsoft.com/office/drawing/2014/main" id="{64716FA9-1542-4A7D-39FE-E4403E34BF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62753" y="1694227"/>
                <a:ext cx="434066" cy="46650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直接箭头连接符 197">
                <a:extLst>
                  <a:ext uri="{FF2B5EF4-FFF2-40B4-BE49-F238E27FC236}">
                    <a16:creationId xmlns:a16="http://schemas.microsoft.com/office/drawing/2014/main" id="{52AC15DA-2C8F-7298-4DE9-2E346AC9BB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628099" y="2345851"/>
                <a:ext cx="904212" cy="18928"/>
              </a:xfrm>
              <a:prstGeom prst="straightConnector1">
                <a:avLst/>
              </a:prstGeom>
              <a:ln w="25400">
                <a:solidFill>
                  <a:srgbClr val="7C7C7C"/>
                </a:solidFill>
                <a:prstDash val="dash"/>
                <a:headEnd w="lg" len="lg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直接箭头连接符 198">
                <a:extLst>
                  <a:ext uri="{FF2B5EF4-FFF2-40B4-BE49-F238E27FC236}">
                    <a16:creationId xmlns:a16="http://schemas.microsoft.com/office/drawing/2014/main" id="{121988E9-F0C6-3EBE-5072-446BAEFB68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40484" y="1790427"/>
                <a:ext cx="402582" cy="421020"/>
              </a:xfrm>
              <a:prstGeom prst="straightConnector1">
                <a:avLst/>
              </a:prstGeom>
              <a:ln w="25400">
                <a:solidFill>
                  <a:schemeClr val="accent3">
                    <a:lumMod val="75000"/>
                  </a:schemeClr>
                </a:solidFill>
                <a:prstDash val="dash"/>
                <a:headEnd type="none" w="lg" len="med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0" name="文本框 199">
                <a:extLst>
                  <a:ext uri="{FF2B5EF4-FFF2-40B4-BE49-F238E27FC236}">
                    <a16:creationId xmlns:a16="http://schemas.microsoft.com/office/drawing/2014/main" id="{942F44F8-4616-ABEF-CB4B-2ED6DC756402}"/>
                  </a:ext>
                </a:extLst>
              </p:cNvPr>
              <p:cNvSpPr txBox="1"/>
              <p:nvPr/>
            </p:nvSpPr>
            <p:spPr>
              <a:xfrm rot="19013698">
                <a:off x="7546981" y="1916583"/>
                <a:ext cx="530155" cy="257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>
                    <a:solidFill>
                      <a:srgbClr val="7C7C7C"/>
                    </a:solidFill>
                  </a:rPr>
                  <a:t>0.4349</a:t>
                </a:r>
                <a:endParaRPr lang="zh-CN" altLang="en-US" sz="1182" b="1" dirty="0">
                  <a:solidFill>
                    <a:srgbClr val="7C7C7C"/>
                  </a:solidFill>
                </a:endParaRPr>
              </a:p>
            </p:txBody>
          </p:sp>
          <p:cxnSp>
            <p:nvCxnSpPr>
              <p:cNvPr id="201" name="直接箭头连接符 200">
                <a:extLst>
                  <a:ext uri="{FF2B5EF4-FFF2-40B4-BE49-F238E27FC236}">
                    <a16:creationId xmlns:a16="http://schemas.microsoft.com/office/drawing/2014/main" id="{BA23E9EF-4165-43F1-AD7A-667FEBB34C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71841" y="1701814"/>
                <a:ext cx="434066" cy="46650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headEnd type="triangl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直接箭头连接符 201">
                <a:extLst>
                  <a:ext uri="{FF2B5EF4-FFF2-40B4-BE49-F238E27FC236}">
                    <a16:creationId xmlns:a16="http://schemas.microsoft.com/office/drawing/2014/main" id="{ADAEE2E4-4560-33F9-A7CD-6BB00CB416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96414" y="1774913"/>
                <a:ext cx="439110" cy="466155"/>
              </a:xfrm>
              <a:prstGeom prst="straightConnector1">
                <a:avLst/>
              </a:prstGeom>
              <a:ln w="25400">
                <a:solidFill>
                  <a:schemeClr val="accent3">
                    <a:lumMod val="75000"/>
                  </a:schemeClr>
                </a:solidFill>
                <a:prstDash val="dash"/>
                <a:headEnd type="none" w="lg" len="med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CC6C91A7-E0B9-8D58-6B6F-1EED01FB2A8A}"/>
                  </a:ext>
                </a:extLst>
              </p:cNvPr>
              <p:cNvSpPr txBox="1"/>
              <p:nvPr/>
            </p:nvSpPr>
            <p:spPr>
              <a:xfrm rot="2705443">
                <a:off x="8250910" y="1740152"/>
                <a:ext cx="580458" cy="2413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/>
                  <a:t>0.6500</a:t>
                </a:r>
                <a:endParaRPr lang="zh-CN" altLang="en-US" sz="1182" b="1" dirty="0"/>
              </a:p>
            </p:txBody>
          </p:sp>
          <p:sp>
            <p:nvSpPr>
              <p:cNvPr id="204" name="文本框 203">
                <a:extLst>
                  <a:ext uri="{FF2B5EF4-FFF2-40B4-BE49-F238E27FC236}">
                    <a16:creationId xmlns:a16="http://schemas.microsoft.com/office/drawing/2014/main" id="{6FF1BB61-46AD-F819-AD50-46D97A5F3C1B}"/>
                  </a:ext>
                </a:extLst>
              </p:cNvPr>
              <p:cNvSpPr txBox="1"/>
              <p:nvPr/>
            </p:nvSpPr>
            <p:spPr>
              <a:xfrm rot="2660691">
                <a:off x="8098786" y="1935296"/>
                <a:ext cx="538522" cy="2601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>
                    <a:solidFill>
                      <a:srgbClr val="7C7C7C"/>
                    </a:solidFill>
                  </a:rPr>
                  <a:t>0.4483</a:t>
                </a:r>
                <a:endParaRPr lang="zh-CN" altLang="en-US" sz="1182" b="1" dirty="0">
                  <a:solidFill>
                    <a:srgbClr val="7C7C7C"/>
                  </a:solidFill>
                </a:endParaRPr>
              </a:p>
            </p:txBody>
          </p:sp>
          <p:cxnSp>
            <p:nvCxnSpPr>
              <p:cNvPr id="205" name="直接箭头连接符 204">
                <a:extLst>
                  <a:ext uri="{FF2B5EF4-FFF2-40B4-BE49-F238E27FC236}">
                    <a16:creationId xmlns:a16="http://schemas.microsoft.com/office/drawing/2014/main" id="{49EB5EF4-FF1F-F1BD-E9B6-E112DDE31F9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638008" y="2444314"/>
                <a:ext cx="919193" cy="11423"/>
              </a:xfrm>
              <a:prstGeom prst="straightConnector1">
                <a:avLst/>
              </a:prstGeom>
              <a:ln w="25400">
                <a:solidFill>
                  <a:srgbClr val="F36969"/>
                </a:solidFill>
                <a:headEnd type="triangl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6" name="文本框 205">
                <a:extLst>
                  <a:ext uri="{FF2B5EF4-FFF2-40B4-BE49-F238E27FC236}">
                    <a16:creationId xmlns:a16="http://schemas.microsoft.com/office/drawing/2014/main" id="{D2205BF7-32AB-8AEE-509C-498CDFFBE174}"/>
                  </a:ext>
                </a:extLst>
              </p:cNvPr>
              <p:cNvSpPr txBox="1"/>
              <p:nvPr/>
            </p:nvSpPr>
            <p:spPr>
              <a:xfrm>
                <a:off x="7831591" y="2403786"/>
                <a:ext cx="538522" cy="2601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>
                    <a:solidFill>
                      <a:srgbClr val="F36969"/>
                    </a:solidFill>
                  </a:rPr>
                  <a:t>0.6141</a:t>
                </a:r>
                <a:endParaRPr lang="zh-CN" altLang="en-US" sz="1182" b="1" dirty="0">
                  <a:solidFill>
                    <a:srgbClr val="F36969"/>
                  </a:solidFill>
                </a:endParaRPr>
              </a:p>
            </p:txBody>
          </p:sp>
          <p:sp>
            <p:nvSpPr>
              <p:cNvPr id="207" name="文本框 206">
                <a:extLst>
                  <a:ext uri="{FF2B5EF4-FFF2-40B4-BE49-F238E27FC236}">
                    <a16:creationId xmlns:a16="http://schemas.microsoft.com/office/drawing/2014/main" id="{A10E77E2-C225-2BCE-70E1-DC5825A92AF0}"/>
                  </a:ext>
                </a:extLst>
              </p:cNvPr>
              <p:cNvSpPr txBox="1"/>
              <p:nvPr/>
            </p:nvSpPr>
            <p:spPr>
              <a:xfrm>
                <a:off x="7834232" y="2155666"/>
                <a:ext cx="530155" cy="257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>
                    <a:solidFill>
                      <a:srgbClr val="7C7C7C"/>
                    </a:solidFill>
                  </a:rPr>
                  <a:t>0.4801</a:t>
                </a:r>
                <a:endParaRPr lang="zh-CN" altLang="en-US" sz="1182" b="1" dirty="0">
                  <a:solidFill>
                    <a:srgbClr val="7C7C7C"/>
                  </a:solidFill>
                </a:endParaRPr>
              </a:p>
            </p:txBody>
          </p:sp>
        </p:grpSp>
      </p:grpSp>
      <p:grpSp>
        <p:nvGrpSpPr>
          <p:cNvPr id="244" name="组合 243">
            <a:extLst>
              <a:ext uri="{FF2B5EF4-FFF2-40B4-BE49-F238E27FC236}">
                <a16:creationId xmlns:a16="http://schemas.microsoft.com/office/drawing/2014/main" id="{9D5812C4-0ABE-E9AD-E612-ECAC7619DF2B}"/>
              </a:ext>
            </a:extLst>
          </p:cNvPr>
          <p:cNvGrpSpPr/>
          <p:nvPr/>
        </p:nvGrpSpPr>
        <p:grpSpPr>
          <a:xfrm>
            <a:off x="5835716" y="4003673"/>
            <a:ext cx="4269074" cy="1361360"/>
            <a:chOff x="6173697" y="3670904"/>
            <a:chExt cx="4464514" cy="1423684"/>
          </a:xfrm>
        </p:grpSpPr>
        <p:grpSp>
          <p:nvGrpSpPr>
            <p:cNvPr id="208" name="组合 207">
              <a:extLst>
                <a:ext uri="{FF2B5EF4-FFF2-40B4-BE49-F238E27FC236}">
                  <a16:creationId xmlns:a16="http://schemas.microsoft.com/office/drawing/2014/main" id="{2259A741-6059-4CB4-3578-6EC6BC8C6F3B}"/>
                </a:ext>
              </a:extLst>
            </p:cNvPr>
            <p:cNvGrpSpPr/>
            <p:nvPr/>
          </p:nvGrpSpPr>
          <p:grpSpPr>
            <a:xfrm>
              <a:off x="6173697" y="3670904"/>
              <a:ext cx="3594101" cy="1423684"/>
              <a:chOff x="7234454" y="1393028"/>
              <a:chExt cx="2989554" cy="1276431"/>
            </a:xfrm>
          </p:grpSpPr>
          <p:sp>
            <p:nvSpPr>
              <p:cNvPr id="209" name="椭圆 208">
                <a:extLst>
                  <a:ext uri="{FF2B5EF4-FFF2-40B4-BE49-F238E27FC236}">
                    <a16:creationId xmlns:a16="http://schemas.microsoft.com/office/drawing/2014/main" id="{F652BC52-D225-6BB4-FAEC-059A49E82D58}"/>
                  </a:ext>
                </a:extLst>
              </p:cNvPr>
              <p:cNvSpPr/>
              <p:nvPr/>
            </p:nvSpPr>
            <p:spPr>
              <a:xfrm>
                <a:off x="7234454" y="2195022"/>
                <a:ext cx="378619" cy="378619"/>
              </a:xfrm>
              <a:prstGeom prst="ellipse">
                <a:avLst/>
              </a:prstGeom>
              <a:solidFill>
                <a:srgbClr val="AD5264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75" b="1" dirty="0"/>
                  <a:t>A</a:t>
                </a:r>
                <a:endParaRPr lang="zh-CN" altLang="en-US" sz="2075" b="1" dirty="0"/>
              </a:p>
            </p:txBody>
          </p:sp>
          <p:sp>
            <p:nvSpPr>
              <p:cNvPr id="210" name="椭圆 209">
                <a:extLst>
                  <a:ext uri="{FF2B5EF4-FFF2-40B4-BE49-F238E27FC236}">
                    <a16:creationId xmlns:a16="http://schemas.microsoft.com/office/drawing/2014/main" id="{74ACDFA7-16DC-FD28-8736-60CF5F023E28}"/>
                  </a:ext>
                </a:extLst>
              </p:cNvPr>
              <p:cNvSpPr/>
              <p:nvPr/>
            </p:nvSpPr>
            <p:spPr>
              <a:xfrm>
                <a:off x="7896819" y="1393028"/>
                <a:ext cx="378619" cy="378619"/>
              </a:xfrm>
              <a:prstGeom prst="ellipse">
                <a:avLst/>
              </a:prstGeom>
              <a:solidFill>
                <a:srgbClr val="6184B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75" b="1" dirty="0"/>
                  <a:t>B</a:t>
                </a:r>
                <a:endParaRPr lang="zh-CN" altLang="en-US" sz="2075" b="1" dirty="0"/>
              </a:p>
            </p:txBody>
          </p:sp>
          <p:sp>
            <p:nvSpPr>
              <p:cNvPr id="211" name="椭圆 210">
                <a:extLst>
                  <a:ext uri="{FF2B5EF4-FFF2-40B4-BE49-F238E27FC236}">
                    <a16:creationId xmlns:a16="http://schemas.microsoft.com/office/drawing/2014/main" id="{0012338C-23F9-8FBA-AAD7-D7EF42352FA7}"/>
                  </a:ext>
                </a:extLst>
              </p:cNvPr>
              <p:cNvSpPr/>
              <p:nvPr/>
            </p:nvSpPr>
            <p:spPr>
              <a:xfrm>
                <a:off x="8582135" y="2211447"/>
                <a:ext cx="378619" cy="378619"/>
              </a:xfrm>
              <a:prstGeom prst="ellipse">
                <a:avLst/>
              </a:prstGeom>
              <a:solidFill>
                <a:srgbClr val="52894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75" b="1" dirty="0"/>
                  <a:t>C</a:t>
                </a:r>
                <a:endParaRPr lang="zh-CN" altLang="en-US" sz="2075" b="1" dirty="0"/>
              </a:p>
            </p:txBody>
          </p:sp>
          <p:sp>
            <p:nvSpPr>
              <p:cNvPr id="212" name="文本框 211">
                <a:extLst>
                  <a:ext uri="{FF2B5EF4-FFF2-40B4-BE49-F238E27FC236}">
                    <a16:creationId xmlns:a16="http://schemas.microsoft.com/office/drawing/2014/main" id="{B965C225-C846-8DF1-7D17-82A4DF268438}"/>
                  </a:ext>
                </a:extLst>
              </p:cNvPr>
              <p:cNvSpPr txBox="1"/>
              <p:nvPr/>
            </p:nvSpPr>
            <p:spPr>
              <a:xfrm rot="18932377">
                <a:off x="7379831" y="1728064"/>
                <a:ext cx="530156" cy="257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/>
                  <a:t>0.1332</a:t>
                </a:r>
                <a:endParaRPr lang="zh-CN" altLang="en-US" sz="1182" b="1" dirty="0"/>
              </a:p>
            </p:txBody>
          </p:sp>
          <p:cxnSp>
            <p:nvCxnSpPr>
              <p:cNvPr id="213" name="直接箭头连接符 212">
                <a:extLst>
                  <a:ext uri="{FF2B5EF4-FFF2-40B4-BE49-F238E27FC236}">
                    <a16:creationId xmlns:a16="http://schemas.microsoft.com/office/drawing/2014/main" id="{C234BA76-9B26-1437-B394-5F01612AA8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62753" y="1694227"/>
                <a:ext cx="434066" cy="46650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none" w="lg" len="med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直接箭头连接符 213">
                <a:extLst>
                  <a:ext uri="{FF2B5EF4-FFF2-40B4-BE49-F238E27FC236}">
                    <a16:creationId xmlns:a16="http://schemas.microsoft.com/office/drawing/2014/main" id="{D4357975-407C-E46B-B356-69ADA927BD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628099" y="2345851"/>
                <a:ext cx="904212" cy="18928"/>
              </a:xfrm>
              <a:prstGeom prst="straightConnector1">
                <a:avLst/>
              </a:prstGeom>
              <a:ln w="25400">
                <a:solidFill>
                  <a:srgbClr val="7C7C7C"/>
                </a:solidFill>
                <a:prstDash val="dash"/>
                <a:headEnd w="lg" len="lg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直接箭头连接符 214">
                <a:extLst>
                  <a:ext uri="{FF2B5EF4-FFF2-40B4-BE49-F238E27FC236}">
                    <a16:creationId xmlns:a16="http://schemas.microsoft.com/office/drawing/2014/main" id="{CD0D0111-5020-6993-348C-ED666789B0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40484" y="1750262"/>
                <a:ext cx="414756" cy="461184"/>
              </a:xfrm>
              <a:prstGeom prst="straightConnector1">
                <a:avLst/>
              </a:prstGeom>
              <a:ln w="25400">
                <a:solidFill>
                  <a:schemeClr val="accent3">
                    <a:lumMod val="75000"/>
                  </a:schemeClr>
                </a:solidFill>
                <a:prstDash val="dash"/>
                <a:headEnd type="triangl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6" name="文本框 215">
                <a:extLst>
                  <a:ext uri="{FF2B5EF4-FFF2-40B4-BE49-F238E27FC236}">
                    <a16:creationId xmlns:a16="http://schemas.microsoft.com/office/drawing/2014/main" id="{33881C93-F725-8F63-250C-339BB3ABA578}"/>
                  </a:ext>
                </a:extLst>
              </p:cNvPr>
              <p:cNvSpPr txBox="1"/>
              <p:nvPr/>
            </p:nvSpPr>
            <p:spPr>
              <a:xfrm rot="19013698">
                <a:off x="7546983" y="1910889"/>
                <a:ext cx="530156" cy="257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>
                    <a:solidFill>
                      <a:srgbClr val="7C7C7C"/>
                    </a:solidFill>
                  </a:rPr>
                  <a:t>0.0484</a:t>
                </a:r>
                <a:endParaRPr lang="zh-CN" altLang="en-US" sz="1182" b="1" dirty="0">
                  <a:solidFill>
                    <a:srgbClr val="7C7C7C"/>
                  </a:solidFill>
                </a:endParaRPr>
              </a:p>
            </p:txBody>
          </p:sp>
          <p:cxnSp>
            <p:nvCxnSpPr>
              <p:cNvPr id="217" name="直接箭头连接符 216">
                <a:extLst>
                  <a:ext uri="{FF2B5EF4-FFF2-40B4-BE49-F238E27FC236}">
                    <a16:creationId xmlns:a16="http://schemas.microsoft.com/office/drawing/2014/main" id="{873D8FD3-8A39-B229-E70F-28E4466D58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71841" y="1701814"/>
                <a:ext cx="434066" cy="46650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none" w="lg" len="med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直接箭头连接符 217">
                <a:extLst>
                  <a:ext uri="{FF2B5EF4-FFF2-40B4-BE49-F238E27FC236}">
                    <a16:creationId xmlns:a16="http://schemas.microsoft.com/office/drawing/2014/main" id="{E308AFD3-EF28-987B-BA2A-007DD524E6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96414" y="1774913"/>
                <a:ext cx="439110" cy="466155"/>
              </a:xfrm>
              <a:prstGeom prst="straightConnector1">
                <a:avLst/>
              </a:prstGeom>
              <a:ln w="25400">
                <a:solidFill>
                  <a:schemeClr val="accent3">
                    <a:lumMod val="75000"/>
                  </a:schemeClr>
                </a:solidFill>
                <a:prstDash val="dash"/>
                <a:headEnd type="triangl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9" name="文本框 218">
                <a:extLst>
                  <a:ext uri="{FF2B5EF4-FFF2-40B4-BE49-F238E27FC236}">
                    <a16:creationId xmlns:a16="http://schemas.microsoft.com/office/drawing/2014/main" id="{B6D15C0B-910F-11FA-C64A-9735227CC16B}"/>
                  </a:ext>
                </a:extLst>
              </p:cNvPr>
              <p:cNvSpPr txBox="1"/>
              <p:nvPr/>
            </p:nvSpPr>
            <p:spPr>
              <a:xfrm rot="2705443">
                <a:off x="8251663" y="1743029"/>
                <a:ext cx="571440" cy="2385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/>
                  <a:t>0.1541</a:t>
                </a:r>
                <a:endParaRPr lang="zh-CN" altLang="en-US" sz="1182" b="1" dirty="0"/>
              </a:p>
            </p:txBody>
          </p:sp>
          <p:sp>
            <p:nvSpPr>
              <p:cNvPr id="220" name="文本框 219">
                <a:extLst>
                  <a:ext uri="{FF2B5EF4-FFF2-40B4-BE49-F238E27FC236}">
                    <a16:creationId xmlns:a16="http://schemas.microsoft.com/office/drawing/2014/main" id="{C8993541-F348-5066-C9F7-CC52E5BE701D}"/>
                  </a:ext>
                </a:extLst>
              </p:cNvPr>
              <p:cNvSpPr txBox="1"/>
              <p:nvPr/>
            </p:nvSpPr>
            <p:spPr>
              <a:xfrm rot="2660691">
                <a:off x="8099447" y="1933951"/>
                <a:ext cx="530156" cy="257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>
                    <a:solidFill>
                      <a:srgbClr val="7C7C7C"/>
                    </a:solidFill>
                  </a:rPr>
                  <a:t>0.0646</a:t>
                </a:r>
                <a:endParaRPr lang="zh-CN" altLang="en-US" sz="1182" b="1" dirty="0">
                  <a:solidFill>
                    <a:srgbClr val="7C7C7C"/>
                  </a:solidFill>
                </a:endParaRPr>
              </a:p>
            </p:txBody>
          </p:sp>
          <p:cxnSp>
            <p:nvCxnSpPr>
              <p:cNvPr id="221" name="直接箭头连接符 220">
                <a:extLst>
                  <a:ext uri="{FF2B5EF4-FFF2-40B4-BE49-F238E27FC236}">
                    <a16:creationId xmlns:a16="http://schemas.microsoft.com/office/drawing/2014/main" id="{765A9949-EC22-C0D5-1155-A2CAB94C25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638008" y="2444314"/>
                <a:ext cx="919193" cy="11423"/>
              </a:xfrm>
              <a:prstGeom prst="straightConnector1">
                <a:avLst/>
              </a:prstGeom>
              <a:ln w="25400">
                <a:solidFill>
                  <a:srgbClr val="7C7C7C"/>
                </a:solidFill>
                <a:prstDash val="dash"/>
                <a:headEnd type="triangl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2" name="文本框 221">
                <a:extLst>
                  <a:ext uri="{FF2B5EF4-FFF2-40B4-BE49-F238E27FC236}">
                    <a16:creationId xmlns:a16="http://schemas.microsoft.com/office/drawing/2014/main" id="{BA928B51-C0E8-FBA0-5509-FAE3B58F34A0}"/>
                  </a:ext>
                </a:extLst>
              </p:cNvPr>
              <p:cNvSpPr txBox="1"/>
              <p:nvPr/>
            </p:nvSpPr>
            <p:spPr>
              <a:xfrm>
                <a:off x="7838634" y="2412326"/>
                <a:ext cx="530156" cy="257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>
                    <a:solidFill>
                      <a:srgbClr val="7C7C7C"/>
                    </a:solidFill>
                  </a:rPr>
                  <a:t>0.0586</a:t>
                </a:r>
                <a:endParaRPr lang="zh-CN" altLang="en-US" sz="1182" b="1" baseline="30000" dirty="0">
                  <a:solidFill>
                    <a:srgbClr val="7C7C7C"/>
                  </a:solidFill>
                </a:endParaRPr>
              </a:p>
            </p:txBody>
          </p:sp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C2D9476F-8557-FA9F-FF58-0F299535DC1E}"/>
                  </a:ext>
                </a:extLst>
              </p:cNvPr>
              <p:cNvSpPr txBox="1"/>
              <p:nvPr/>
            </p:nvSpPr>
            <p:spPr>
              <a:xfrm>
                <a:off x="7833351" y="2153769"/>
                <a:ext cx="530156" cy="257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>
                    <a:solidFill>
                      <a:srgbClr val="7C7C7C"/>
                    </a:solidFill>
                  </a:rPr>
                  <a:t>0.0645</a:t>
                </a:r>
                <a:endParaRPr lang="zh-CN" altLang="en-US" sz="1182" b="1" baseline="30000" dirty="0">
                  <a:solidFill>
                    <a:srgbClr val="7C7C7C"/>
                  </a:solidFill>
                </a:endParaRPr>
              </a:p>
            </p:txBody>
          </p:sp>
          <p:sp>
            <p:nvSpPr>
              <p:cNvPr id="224" name="文本框 223">
                <a:extLst>
                  <a:ext uri="{FF2B5EF4-FFF2-40B4-BE49-F238E27FC236}">
                    <a16:creationId xmlns:a16="http://schemas.microsoft.com/office/drawing/2014/main" id="{44199447-8038-5DF2-7EB8-718A6A84D750}"/>
                  </a:ext>
                </a:extLst>
              </p:cNvPr>
              <p:cNvSpPr txBox="1"/>
              <p:nvPr/>
            </p:nvSpPr>
            <p:spPr>
              <a:xfrm>
                <a:off x="7939022" y="2010418"/>
                <a:ext cx="283147" cy="189318"/>
              </a:xfrm>
              <a:prstGeom prst="rect">
                <a:avLst/>
              </a:prstGeom>
              <a:solidFill>
                <a:srgbClr val="FEC200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289" b="1" dirty="0">
                    <a:solidFill>
                      <a:schemeClr val="bg1"/>
                    </a:solidFill>
                  </a:rPr>
                  <a:t>0.13</a:t>
                </a:r>
                <a:endParaRPr lang="zh-CN" altLang="en-US" sz="1289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25" name="文本框 224">
                <a:extLst>
                  <a:ext uri="{FF2B5EF4-FFF2-40B4-BE49-F238E27FC236}">
                    <a16:creationId xmlns:a16="http://schemas.microsoft.com/office/drawing/2014/main" id="{08D5A2C7-50E8-BAA7-504E-5B65D78551E0}"/>
                  </a:ext>
                </a:extLst>
              </p:cNvPr>
              <p:cNvSpPr txBox="1"/>
              <p:nvPr/>
            </p:nvSpPr>
            <p:spPr>
              <a:xfrm>
                <a:off x="9940861" y="2010418"/>
                <a:ext cx="283147" cy="189318"/>
              </a:xfrm>
              <a:prstGeom prst="rect">
                <a:avLst/>
              </a:prstGeom>
              <a:solidFill>
                <a:srgbClr val="FEC200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289" b="1" dirty="0">
                    <a:solidFill>
                      <a:schemeClr val="bg1"/>
                    </a:solidFill>
                  </a:rPr>
                  <a:t>0.36</a:t>
                </a:r>
                <a:endParaRPr lang="zh-CN" altLang="en-US" sz="1289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26" name="组合 225">
              <a:extLst>
                <a:ext uri="{FF2B5EF4-FFF2-40B4-BE49-F238E27FC236}">
                  <a16:creationId xmlns:a16="http://schemas.microsoft.com/office/drawing/2014/main" id="{23555B7A-E0D3-CD76-A299-17575FF29852}"/>
                </a:ext>
              </a:extLst>
            </p:cNvPr>
            <p:cNvGrpSpPr/>
            <p:nvPr/>
          </p:nvGrpSpPr>
          <p:grpSpPr>
            <a:xfrm>
              <a:off x="8562819" y="3672556"/>
              <a:ext cx="2075392" cy="1417512"/>
              <a:chOff x="7234454" y="1393028"/>
              <a:chExt cx="1726300" cy="1270897"/>
            </a:xfrm>
          </p:grpSpPr>
          <p:sp>
            <p:nvSpPr>
              <p:cNvPr id="227" name="椭圆 226">
                <a:extLst>
                  <a:ext uri="{FF2B5EF4-FFF2-40B4-BE49-F238E27FC236}">
                    <a16:creationId xmlns:a16="http://schemas.microsoft.com/office/drawing/2014/main" id="{68FFEF5F-1F5C-08A9-13E9-5EF00C820240}"/>
                  </a:ext>
                </a:extLst>
              </p:cNvPr>
              <p:cNvSpPr/>
              <p:nvPr/>
            </p:nvSpPr>
            <p:spPr>
              <a:xfrm>
                <a:off x="7234454" y="2195022"/>
                <a:ext cx="378619" cy="378619"/>
              </a:xfrm>
              <a:prstGeom prst="ellipse">
                <a:avLst/>
              </a:prstGeom>
              <a:solidFill>
                <a:srgbClr val="AD5264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75" b="1" dirty="0"/>
                  <a:t>A</a:t>
                </a:r>
                <a:endParaRPr lang="zh-CN" altLang="en-US" sz="2075" b="1" dirty="0"/>
              </a:p>
            </p:txBody>
          </p:sp>
          <p:sp>
            <p:nvSpPr>
              <p:cNvPr id="228" name="椭圆 227">
                <a:extLst>
                  <a:ext uri="{FF2B5EF4-FFF2-40B4-BE49-F238E27FC236}">
                    <a16:creationId xmlns:a16="http://schemas.microsoft.com/office/drawing/2014/main" id="{B66BE778-B7A2-749C-B66F-182C053FEA67}"/>
                  </a:ext>
                </a:extLst>
              </p:cNvPr>
              <p:cNvSpPr/>
              <p:nvPr/>
            </p:nvSpPr>
            <p:spPr>
              <a:xfrm>
                <a:off x="7896819" y="1393028"/>
                <a:ext cx="378619" cy="378619"/>
              </a:xfrm>
              <a:prstGeom prst="ellipse">
                <a:avLst/>
              </a:prstGeom>
              <a:solidFill>
                <a:srgbClr val="6184B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75" b="1" dirty="0"/>
                  <a:t>B</a:t>
                </a:r>
                <a:endParaRPr lang="zh-CN" altLang="en-US" sz="2075" b="1" dirty="0"/>
              </a:p>
            </p:txBody>
          </p:sp>
          <p:sp>
            <p:nvSpPr>
              <p:cNvPr id="229" name="椭圆 228">
                <a:extLst>
                  <a:ext uri="{FF2B5EF4-FFF2-40B4-BE49-F238E27FC236}">
                    <a16:creationId xmlns:a16="http://schemas.microsoft.com/office/drawing/2014/main" id="{94CFF9E1-7357-4A50-B215-E8D76D7E3196}"/>
                  </a:ext>
                </a:extLst>
              </p:cNvPr>
              <p:cNvSpPr/>
              <p:nvPr/>
            </p:nvSpPr>
            <p:spPr>
              <a:xfrm>
                <a:off x="8582135" y="2211447"/>
                <a:ext cx="378619" cy="378619"/>
              </a:xfrm>
              <a:prstGeom prst="ellipse">
                <a:avLst/>
              </a:prstGeom>
              <a:solidFill>
                <a:srgbClr val="52894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75" b="1" dirty="0"/>
                  <a:t>C</a:t>
                </a:r>
                <a:endParaRPr lang="zh-CN" altLang="en-US" sz="2075" b="1" dirty="0"/>
              </a:p>
            </p:txBody>
          </p:sp>
          <p:sp>
            <p:nvSpPr>
              <p:cNvPr id="230" name="文本框 229">
                <a:extLst>
                  <a:ext uri="{FF2B5EF4-FFF2-40B4-BE49-F238E27FC236}">
                    <a16:creationId xmlns:a16="http://schemas.microsoft.com/office/drawing/2014/main" id="{BB4637C9-DD35-3940-35D2-21E649508D93}"/>
                  </a:ext>
                </a:extLst>
              </p:cNvPr>
              <p:cNvSpPr txBox="1"/>
              <p:nvPr/>
            </p:nvSpPr>
            <p:spPr>
              <a:xfrm rot="18932377">
                <a:off x="7367164" y="1731988"/>
                <a:ext cx="538522" cy="2601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/>
                  <a:t>0.3986</a:t>
                </a:r>
                <a:endParaRPr lang="zh-CN" altLang="en-US" sz="1182" b="1" dirty="0"/>
              </a:p>
            </p:txBody>
          </p:sp>
          <p:cxnSp>
            <p:nvCxnSpPr>
              <p:cNvPr id="231" name="直接箭头连接符 230">
                <a:extLst>
                  <a:ext uri="{FF2B5EF4-FFF2-40B4-BE49-F238E27FC236}">
                    <a16:creationId xmlns:a16="http://schemas.microsoft.com/office/drawing/2014/main" id="{EC8EFBA2-95A8-C1A9-D498-8C6AA5464E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62753" y="1694227"/>
                <a:ext cx="434066" cy="46650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none" w="lg" len="med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直接箭头连接符 231">
                <a:extLst>
                  <a:ext uri="{FF2B5EF4-FFF2-40B4-BE49-F238E27FC236}">
                    <a16:creationId xmlns:a16="http://schemas.microsoft.com/office/drawing/2014/main" id="{8AADD07D-6DCF-09CD-165A-81B9840517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628099" y="2345851"/>
                <a:ext cx="904212" cy="18928"/>
              </a:xfrm>
              <a:prstGeom prst="straightConnector1">
                <a:avLst/>
              </a:prstGeom>
              <a:ln w="25400">
                <a:solidFill>
                  <a:srgbClr val="7C7C7C"/>
                </a:solidFill>
                <a:prstDash val="dash"/>
                <a:headEnd w="lg" len="lg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直接箭头连接符 232">
                <a:extLst>
                  <a:ext uri="{FF2B5EF4-FFF2-40B4-BE49-F238E27FC236}">
                    <a16:creationId xmlns:a16="http://schemas.microsoft.com/office/drawing/2014/main" id="{5D4D39D1-B6CC-0EC2-E993-45B40975CF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40484" y="1790427"/>
                <a:ext cx="402582" cy="421020"/>
              </a:xfrm>
              <a:prstGeom prst="straightConnector1">
                <a:avLst/>
              </a:prstGeom>
              <a:ln w="25400">
                <a:solidFill>
                  <a:schemeClr val="accent3">
                    <a:lumMod val="75000"/>
                  </a:schemeClr>
                </a:solidFill>
                <a:prstDash val="dash"/>
                <a:headEnd type="triangl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A2A42961-EAAE-7BF9-4A42-38FB8F71AC02}"/>
                  </a:ext>
                </a:extLst>
              </p:cNvPr>
              <p:cNvSpPr txBox="1"/>
              <p:nvPr/>
            </p:nvSpPr>
            <p:spPr>
              <a:xfrm rot="19013698">
                <a:off x="7542798" y="1915080"/>
                <a:ext cx="538522" cy="2601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>
                    <a:solidFill>
                      <a:srgbClr val="7C7C7C"/>
                    </a:solidFill>
                  </a:rPr>
                  <a:t>0.3510</a:t>
                </a:r>
                <a:endParaRPr lang="zh-CN" altLang="en-US" sz="1182" b="1" dirty="0">
                  <a:solidFill>
                    <a:srgbClr val="7C7C7C"/>
                  </a:solidFill>
                </a:endParaRPr>
              </a:p>
            </p:txBody>
          </p:sp>
          <p:cxnSp>
            <p:nvCxnSpPr>
              <p:cNvPr id="235" name="直接箭头连接符 234">
                <a:extLst>
                  <a:ext uri="{FF2B5EF4-FFF2-40B4-BE49-F238E27FC236}">
                    <a16:creationId xmlns:a16="http://schemas.microsoft.com/office/drawing/2014/main" id="{EBC920DA-25F0-7018-EA7A-EAA998F4F8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71841" y="1701814"/>
                <a:ext cx="434066" cy="46650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headEnd type="none" w="lg" len="med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直接箭头连接符 235">
                <a:extLst>
                  <a:ext uri="{FF2B5EF4-FFF2-40B4-BE49-F238E27FC236}">
                    <a16:creationId xmlns:a16="http://schemas.microsoft.com/office/drawing/2014/main" id="{C3DF8836-17D8-79D2-E235-24AB6E9132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96414" y="1774913"/>
                <a:ext cx="439110" cy="466155"/>
              </a:xfrm>
              <a:prstGeom prst="straightConnector1">
                <a:avLst/>
              </a:prstGeom>
              <a:ln w="25400">
                <a:solidFill>
                  <a:schemeClr val="accent3">
                    <a:lumMod val="75000"/>
                  </a:schemeClr>
                </a:solidFill>
                <a:prstDash val="dash"/>
                <a:headEnd type="triangl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D79D1E8F-0D0C-7B09-7FD6-6E8E45B7632E}"/>
                  </a:ext>
                </a:extLst>
              </p:cNvPr>
              <p:cNvSpPr txBox="1"/>
              <p:nvPr/>
            </p:nvSpPr>
            <p:spPr>
              <a:xfrm rot="2705443">
                <a:off x="8250910" y="1740152"/>
                <a:ext cx="580458" cy="2413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/>
                  <a:t>0.3634</a:t>
                </a:r>
                <a:endParaRPr lang="zh-CN" altLang="en-US" sz="1182" b="1" dirty="0"/>
              </a:p>
            </p:txBody>
          </p:sp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44C68055-1494-EEE6-DD7C-A930EC5AE939}"/>
                  </a:ext>
                </a:extLst>
              </p:cNvPr>
              <p:cNvSpPr txBox="1"/>
              <p:nvPr/>
            </p:nvSpPr>
            <p:spPr>
              <a:xfrm rot="2660691">
                <a:off x="8098786" y="1935296"/>
                <a:ext cx="538522" cy="2601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>
                    <a:solidFill>
                      <a:srgbClr val="7C7C7C"/>
                    </a:solidFill>
                  </a:rPr>
                  <a:t>0.2349</a:t>
                </a:r>
                <a:endParaRPr lang="zh-CN" altLang="en-US" sz="1182" b="1" dirty="0">
                  <a:solidFill>
                    <a:srgbClr val="7C7C7C"/>
                  </a:solidFill>
                </a:endParaRPr>
              </a:p>
            </p:txBody>
          </p:sp>
          <p:cxnSp>
            <p:nvCxnSpPr>
              <p:cNvPr id="239" name="直接箭头连接符 238">
                <a:extLst>
                  <a:ext uri="{FF2B5EF4-FFF2-40B4-BE49-F238E27FC236}">
                    <a16:creationId xmlns:a16="http://schemas.microsoft.com/office/drawing/2014/main" id="{6BCE6B72-326B-AAC4-52EC-E7A8BD8FFEC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638008" y="2444314"/>
                <a:ext cx="919193" cy="11423"/>
              </a:xfrm>
              <a:prstGeom prst="straightConnector1">
                <a:avLst/>
              </a:prstGeom>
              <a:ln w="25400">
                <a:solidFill>
                  <a:srgbClr val="F36969"/>
                </a:solidFill>
                <a:headEnd type="triangl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0" name="文本框 239">
                <a:extLst>
                  <a:ext uri="{FF2B5EF4-FFF2-40B4-BE49-F238E27FC236}">
                    <a16:creationId xmlns:a16="http://schemas.microsoft.com/office/drawing/2014/main" id="{23ECF6AF-CE08-8862-48DE-42A90B036A16}"/>
                  </a:ext>
                </a:extLst>
              </p:cNvPr>
              <p:cNvSpPr txBox="1"/>
              <p:nvPr/>
            </p:nvSpPr>
            <p:spPr>
              <a:xfrm>
                <a:off x="7831591" y="2403786"/>
                <a:ext cx="538522" cy="2601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>
                    <a:solidFill>
                      <a:srgbClr val="F36969"/>
                    </a:solidFill>
                  </a:rPr>
                  <a:t>0.3954</a:t>
                </a:r>
                <a:endParaRPr lang="zh-CN" altLang="en-US" sz="1182" b="1" dirty="0">
                  <a:solidFill>
                    <a:srgbClr val="F36969"/>
                  </a:solidFill>
                </a:endParaRPr>
              </a:p>
            </p:txBody>
          </p:sp>
          <p:sp>
            <p:nvSpPr>
              <p:cNvPr id="241" name="文本框 240">
                <a:extLst>
                  <a:ext uri="{FF2B5EF4-FFF2-40B4-BE49-F238E27FC236}">
                    <a16:creationId xmlns:a16="http://schemas.microsoft.com/office/drawing/2014/main" id="{8B17C9A4-B072-BD4C-5D6C-CA10041D7CE9}"/>
                  </a:ext>
                </a:extLst>
              </p:cNvPr>
              <p:cNvSpPr txBox="1"/>
              <p:nvPr/>
            </p:nvSpPr>
            <p:spPr>
              <a:xfrm>
                <a:off x="7834232" y="2155666"/>
                <a:ext cx="530155" cy="257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82" b="1" dirty="0">
                    <a:solidFill>
                      <a:srgbClr val="7C7C7C"/>
                    </a:solidFill>
                  </a:rPr>
                  <a:t>0.3584</a:t>
                </a:r>
                <a:endParaRPr lang="zh-CN" altLang="en-US" sz="1182" b="1" dirty="0">
                  <a:solidFill>
                    <a:srgbClr val="7C7C7C"/>
                  </a:solidFill>
                </a:endParaRPr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01A843A-377B-4784-A882-76691A1C06C7}"/>
              </a:ext>
            </a:extLst>
          </p:cNvPr>
          <p:cNvGrpSpPr/>
          <p:nvPr/>
        </p:nvGrpSpPr>
        <p:grpSpPr>
          <a:xfrm>
            <a:off x="5406152" y="899966"/>
            <a:ext cx="366515" cy="4438543"/>
            <a:chOff x="5371669" y="496103"/>
            <a:chExt cx="411652" cy="2479841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CF66CDD-FE5B-5577-FEA0-517B3ACDEF77}"/>
                </a:ext>
              </a:extLst>
            </p:cNvPr>
            <p:cNvSpPr/>
            <p:nvPr/>
          </p:nvSpPr>
          <p:spPr>
            <a:xfrm>
              <a:off x="5371669" y="496103"/>
              <a:ext cx="411652" cy="826614"/>
            </a:xfrm>
            <a:prstGeom prst="rect">
              <a:avLst/>
            </a:prstGeom>
            <a:noFill/>
            <a:ln cap="rnd">
              <a:solidFill>
                <a:schemeClr val="tx1">
                  <a:alpha val="50000"/>
                </a:schemeClr>
              </a:solidFill>
              <a:prstDash val="sysDot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 err="1">
                  <a:solidFill>
                    <a:schemeClr val="tx1"/>
                  </a:solidFill>
                </a:rPr>
                <a:t>i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5CAD286-A2E1-9CD5-BA3B-0A8B3A29C463}"/>
                </a:ext>
              </a:extLst>
            </p:cNvPr>
            <p:cNvSpPr/>
            <p:nvPr/>
          </p:nvSpPr>
          <p:spPr>
            <a:xfrm>
              <a:off x="5371669" y="1322717"/>
              <a:ext cx="411652" cy="826614"/>
            </a:xfrm>
            <a:prstGeom prst="rect">
              <a:avLst/>
            </a:prstGeom>
            <a:noFill/>
            <a:ln cap="rnd">
              <a:solidFill>
                <a:schemeClr val="tx1">
                  <a:alpha val="50000"/>
                </a:schemeClr>
              </a:solidFill>
              <a:prstDash val="sysDot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</a:rPr>
                <a:t>ii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1EA4C81-A735-3782-0EE5-21BEA04CDF49}"/>
                </a:ext>
              </a:extLst>
            </p:cNvPr>
            <p:cNvSpPr/>
            <p:nvPr/>
          </p:nvSpPr>
          <p:spPr>
            <a:xfrm>
              <a:off x="5371669" y="2149330"/>
              <a:ext cx="411652" cy="826614"/>
            </a:xfrm>
            <a:prstGeom prst="rect">
              <a:avLst/>
            </a:prstGeom>
            <a:noFill/>
            <a:ln cap="rnd">
              <a:solidFill>
                <a:schemeClr val="tx1">
                  <a:alpha val="50000"/>
                </a:schemeClr>
              </a:solidFill>
              <a:prstDash val="sysDot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prstClr val="black"/>
                  </a:solidFill>
                  <a:latin typeface="Calibri" panose="020F0502020204030204"/>
                  <a:ea typeface="等线" panose="02010600030101010101" pitchFamily="2" charset="-122"/>
                </a:rPr>
                <a:t>iii</a:t>
              </a:r>
              <a:endParaRPr lang="zh-CN" altLang="en-US" sz="1600" b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endParaRPr>
            </a:p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922CB886-907B-E1E5-94FB-1050AF53BE10}"/>
              </a:ext>
            </a:extLst>
          </p:cNvPr>
          <p:cNvGrpSpPr/>
          <p:nvPr/>
        </p:nvGrpSpPr>
        <p:grpSpPr>
          <a:xfrm rot="16200000">
            <a:off x="7755472" y="-1449361"/>
            <a:ext cx="366515" cy="4332126"/>
            <a:chOff x="8013735" y="496103"/>
            <a:chExt cx="411652" cy="332027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1D5DE159-70E3-31D8-6C16-1A68F73722F4}"/>
                </a:ext>
              </a:extLst>
            </p:cNvPr>
            <p:cNvSpPr/>
            <p:nvPr/>
          </p:nvSpPr>
          <p:spPr>
            <a:xfrm>
              <a:off x="8013735" y="496103"/>
              <a:ext cx="411652" cy="1661718"/>
            </a:xfrm>
            <a:prstGeom prst="rect">
              <a:avLst/>
            </a:prstGeom>
            <a:noFill/>
            <a:ln cap="rnd">
              <a:solidFill>
                <a:schemeClr val="tx1">
                  <a:alpha val="50000"/>
                </a:schemeClr>
              </a:solidFill>
              <a:prstDash val="sysDot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</a:rPr>
                <a:t>GCMC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02A6398A-67D5-4C37-73B8-5ABFD28A697B}"/>
                </a:ext>
              </a:extLst>
            </p:cNvPr>
            <p:cNvSpPr/>
            <p:nvPr/>
          </p:nvSpPr>
          <p:spPr>
            <a:xfrm>
              <a:off x="8013735" y="2154658"/>
              <a:ext cx="411652" cy="1661718"/>
            </a:xfrm>
            <a:prstGeom prst="rect">
              <a:avLst/>
            </a:prstGeom>
            <a:noFill/>
            <a:ln cap="rnd">
              <a:solidFill>
                <a:schemeClr val="tx1">
                  <a:alpha val="50000"/>
                </a:schemeClr>
              </a:solidFill>
              <a:prstDash val="sysDot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</a:rPr>
                <a:t>GCCM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7556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247</TotalTime>
  <Words>125</Words>
  <Application>Microsoft Office PowerPoint</Application>
  <PresentationFormat>自定义</PresentationFormat>
  <Paragraphs>89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Wenbo Lv</dc:creator>
  <cp:lastModifiedBy>Wenbo Lv</cp:lastModifiedBy>
  <cp:revision>121</cp:revision>
  <dcterms:created xsi:type="dcterms:W3CDTF">2025-06-25T12:21:18Z</dcterms:created>
  <dcterms:modified xsi:type="dcterms:W3CDTF">2025-12-17T04:22:48Z</dcterms:modified>
</cp:coreProperties>
</file>